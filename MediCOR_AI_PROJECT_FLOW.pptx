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1" d="100"/>
          <a:sy n="81" d="100"/>
        </p:scale>
        <p:origin x="725" y="53"/>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463270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Open with the one-line version</a:t>
            </a:r>
            <a:r>
              <a:t>: </a:t>
            </a:r>
            <a:r>
              <a:rPr lang="en-IN"/>
              <a:t>MediCOR AI</a:t>
            </a:r>
            <a:r>
              <a:t> </a:t>
            </a:r>
            <a:r>
              <a:rPr dirty="0"/>
              <a:t>answers a clinic's phone with an AI receptionist, and gives the clinic a dashboard for everything that comes out of those calls. Say that this walkthrough follows a real call and a real user journey through the actual system — not a concept deck.</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the pain before the product. Every clinic understands this one: the desk is a bottleneck. Ask them how many calls they think go unanswered after six — most have never measured it. That is the gap this fills.</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capabilities, and be careful with the fourth: the agent RECORDS a repeat prescription request, it never approves one. That is enforced in code, not by prompt wording — the approval route is simply not reachable by the agent. If a clinician is in the room, that is the point that earns trust.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it left to right. Two entry points — staff in a browser, patients on the phone — and both end up at the same FastAPI backend and the same SQL Server database. That is the important design point: the AI has no private back door. It books appointments through exactly the endpoints our own dashboard uses. If someone asks about SIP or LiveKit: this stack is Twilio Media Streams over a WebSocket. LiveKit exists as a documented fallback but is not what runs.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order you will see in the screenshots. Point out that every screen fetches its own data when it opens — nothing is pre-loaded or cached on the server — and that every one of those queries is filtered by the clinic's id, so one clinic can never see another's records.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short. The password is checked against a hash and never stored. The browser gets a signed token and sends it with every request. Worth mentioning the three token types — a token minted for a phone call cannot be used to open the dashboard, and vice versa. If asked about security limits, be honest: resetting a password does not kill existing sessions, because the tokens are stateless.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Say that nothing here is stored pre-aggregated — every figure is computed from the call and appointment records when the page loads, so the dashboard can never drift from the underlying data. Then mention the WebSocket: when a call starts or ends, this screen updates by itself. If a call is running during the demo, that is the moment to point at it.</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phone-matching rule sounds like a detail but it was a real bug: Twilio delivers numbers in international format and receptionists type them locally, so the two never matched. That meant the AI treated returning patients as new and registered them twice. Both halves are fixed — matching, and a guard that refuses the duplicate registration.</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line to land: there is ONE definition of whether a slot is free, and staff, the AI and the patient link all go through it. That is why the AI cannot book something a human couldn't — double-booking is not a matter of the AI behaving well, it is structurally prevented.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slide people ask most about. Go slowly. The call arrives at Twilio and Twilio opens a two-way audio stream to our gateway. Deepgram turns speech into text, a language model decides what the caller wants, and it picks from sixteen tools. Those tools call our own backend — the same endpoints as the dashboard. Sarvam speaks the answer back in Indian English, which matters for our callers. Correct anyone who mentions SIP or LiveKit: not on this path.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one or two lines aloud, then point at the teal rows — those are the moments the AI stops talking and calls our backend. Two details worth calling out: it greets by FIRST NAME only, because saying a full name aloud would confirm to whoever picked up that a named person is a patient here. And recognition greets, it does not authenticate — the agent still verifies identity before showing anything private.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 straight about this one. We do not have partnerships with Epic or Cerner and we do not claim to. What we have is a generic connector: you give us your FHIR or REST endpoint and we push patient demographics to it. The important reassurance is the third box — if your EHR is down or not connected at all, the AI still answers calls and books appointments perfectly well.</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demo moment if you can arrange it: have a call come in while the dashboard is on screen and let them watch it appear. Explain that the backend pushes the event to every dashboard open for that clinic — scoped by clinic, so nobody sees another practice's activity.</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read the table names out. The point is the shape: everything hangs off the organisation, which is how one deployment serves many clinics without their data ever meeting. If a technical person is in the room, the second box is the one they will appreciate — mixing local and UTC time is the classic scheduling bug and we handle it deliberately.</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Keep this brief unless there are engineers present. The message is that there is one path to the data. The AI does not have a shortcut or a private API — it authenticates as the clinic and calls the same routes, which is why business rules cannot drift between what a human can do and what the AI can do.</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the summary slide for the whole voice story — use it to recap before questions. The last sentence is the one to emphasise: the outcome recorded against a call is not the AI's opinion of how it went. If it says an appointment was booked, there is a row in the appointments table to match. We made that a rule after seeing a call marked 'Booked' with nothing behind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Six benefits, all of them tied to something we actually built. The footnote matters more than it looks — being explicit about what we do NOT claim is what makes the rest credible. We do not offer an uptime guarantee because we do not yet measure one, the AI makes no clinical decisions, and calls are transcribed rather than recorded.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dwell here unless asked. The one line worth saying out loud is the footnote: the search index over a clinic's own documents is computed locally, so those documents are never sent to a third-party AI service. For a healthcare buyer that is often the question behind the question.</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Do not skip this slide, even though it is the least flattering. Being first to say what is not finished is what makes the green column believable. The amber column is the important one commercially: that work is DONE and tested — it is waiting on accounts being purchased, not on engineering. Expect a question about call recording; the answer is that we store transcripts, not audio, and that was a deliberate choice.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on the five lines, then stop talking and invite questions. If you only get one sentence in, make it the last one: the phone is always answered, and every call leaves a written record the clinic can go back to.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914400" y="4041648"/>
            <a:ext cx="2377440" cy="64008"/>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914400" y="2103120"/>
            <a:ext cx="10058400" cy="991875"/>
          </a:xfrm>
          <a:prstGeom prst="rect">
            <a:avLst/>
          </a:prstGeom>
          <a:noFill/>
        </p:spPr>
        <p:txBody>
          <a:bodyPr wrap="square" anchor="t">
            <a:spAutoFit/>
          </a:bodyPr>
          <a:lstStyle/>
          <a:p>
            <a:pPr algn="l">
              <a:lnSpc>
                <a:spcPct val="115000"/>
              </a:lnSpc>
            </a:pPr>
            <a:r>
              <a:rPr lang="en-IN" sz="5400" b="1" dirty="0" err="1">
                <a:solidFill>
                  <a:srgbClr val="FFFFFF"/>
                </a:solidFill>
                <a:latin typeface="Calibri"/>
              </a:rPr>
              <a:t>MediCOR</a:t>
            </a:r>
            <a:r>
              <a:rPr sz="5400" b="1" dirty="0">
                <a:solidFill>
                  <a:srgbClr val="FFFFFF"/>
                </a:solidFill>
                <a:latin typeface="Calibri"/>
              </a:rPr>
              <a:t> AI</a:t>
            </a:r>
          </a:p>
        </p:txBody>
      </p:sp>
      <p:sp>
        <p:nvSpPr>
          <p:cNvPr id="5" name="TextBox 4"/>
          <p:cNvSpPr txBox="1"/>
          <p:nvPr/>
        </p:nvSpPr>
        <p:spPr>
          <a:xfrm>
            <a:off x="914400" y="3154680"/>
            <a:ext cx="10058400" cy="640080"/>
          </a:xfrm>
          <a:prstGeom prst="rect">
            <a:avLst/>
          </a:prstGeom>
          <a:noFill/>
        </p:spPr>
        <p:txBody>
          <a:bodyPr wrap="square" anchor="t">
            <a:spAutoFit/>
          </a:bodyPr>
          <a:lstStyle/>
          <a:p>
            <a:pPr algn="l">
              <a:lnSpc>
                <a:spcPct val="115000"/>
              </a:lnSpc>
            </a:pPr>
            <a:r>
              <a:rPr sz="2200" b="0">
                <a:solidFill>
                  <a:srgbClr val="0E7C86"/>
                </a:solidFill>
                <a:latin typeface="Calibri"/>
              </a:rPr>
              <a:t>AI-Powered Healthcare Voice &amp; Workflow Automation</a:t>
            </a:r>
          </a:p>
        </p:txBody>
      </p:sp>
      <p:sp>
        <p:nvSpPr>
          <p:cNvPr id="6" name="TextBox 5"/>
          <p:cNvSpPr txBox="1"/>
          <p:nvPr/>
        </p:nvSpPr>
        <p:spPr>
          <a:xfrm>
            <a:off x="914400" y="4297680"/>
            <a:ext cx="10058400" cy="914400"/>
          </a:xfrm>
          <a:prstGeom prst="rect">
            <a:avLst/>
          </a:prstGeom>
          <a:noFill/>
        </p:spPr>
        <p:txBody>
          <a:bodyPr wrap="square" anchor="t">
            <a:spAutoFit/>
          </a:bodyPr>
          <a:lstStyle/>
          <a:p>
            <a:pPr algn="l">
              <a:lnSpc>
                <a:spcPct val="115000"/>
              </a:lnSpc>
            </a:pPr>
            <a:r>
              <a:rPr sz="1500" b="0">
                <a:solidFill>
                  <a:srgbClr val="E8F1F2"/>
                </a:solidFill>
                <a:latin typeface="Calibri"/>
              </a:rPr>
              <a:t>An AI receptionist that answers a clinic's telephone — booking appointments,</a:t>
            </a:r>
          </a:p>
          <a:p>
            <a:pPr algn="l">
              <a:lnSpc>
                <a:spcPct val="115000"/>
              </a:lnSpc>
            </a:pPr>
            <a:r>
              <a:rPr sz="1500" b="0">
                <a:solidFill>
                  <a:srgbClr val="E8F1F2"/>
                </a:solidFill>
                <a:latin typeface="Calibri"/>
              </a:rPr>
              <a:t>answering questions and recording every conversation — with a live dashboard</a:t>
            </a:r>
          </a:p>
          <a:p>
            <a:pPr algn="l">
              <a:lnSpc>
                <a:spcPct val="115000"/>
              </a:lnSpc>
            </a:pPr>
            <a:r>
              <a:rPr sz="1500" b="0">
                <a:solidFill>
                  <a:srgbClr val="E8F1F2"/>
                </a:solidFill>
                <a:latin typeface="Calibri"/>
              </a:rPr>
              <a:t>for the clinic behind it.</a:t>
            </a:r>
          </a:p>
        </p:txBody>
      </p:sp>
      <p:sp>
        <p:nvSpPr>
          <p:cNvPr id="7" name="TextBox 6"/>
          <p:cNvSpPr txBox="1"/>
          <p:nvPr/>
        </p:nvSpPr>
        <p:spPr>
          <a:xfrm>
            <a:off x="914400" y="5852160"/>
            <a:ext cx="10058400" cy="365760"/>
          </a:xfrm>
          <a:prstGeom prst="rect">
            <a:avLst/>
          </a:prstGeom>
          <a:noFill/>
        </p:spPr>
        <p:txBody>
          <a:bodyPr wrap="square" anchor="t">
            <a:spAutoFit/>
          </a:bodyPr>
          <a:lstStyle/>
          <a:p>
            <a:pPr algn="l">
              <a:lnSpc>
                <a:spcPct val="115000"/>
              </a:lnSpc>
            </a:pPr>
            <a:r>
              <a:rPr sz="1300" b="0">
                <a:solidFill>
                  <a:srgbClr val="555F6D"/>
                </a:solidFill>
                <a:latin typeface="Calibri"/>
              </a:rPr>
              <a:t>Project flow walkthrough</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The Problem</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Why clinics lose patients at the front desk</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TextBox 5"/>
          <p:cNvSpPr txBox="1"/>
          <p:nvPr/>
        </p:nvSpPr>
        <p:spPr>
          <a:xfrm>
            <a:off x="640080" y="1554480"/>
            <a:ext cx="5669280" cy="566928"/>
          </a:xfrm>
          <a:prstGeom prst="rect">
            <a:avLst/>
          </a:prstGeom>
          <a:noFill/>
        </p:spPr>
        <p:txBody>
          <a:bodyPr wrap="square" anchor="t">
            <a:spAutoFit/>
          </a:bodyPr>
          <a:lstStyle/>
          <a:p>
            <a:pPr algn="l">
              <a:lnSpc>
                <a:spcPct val="115000"/>
              </a:lnSpc>
            </a:pPr>
            <a:r>
              <a:rPr sz="1500" b="0">
                <a:solidFill>
                  <a:srgbClr val="0F172A"/>
                </a:solidFill>
                <a:latin typeface="Calibri"/>
              </a:rPr>
              <a:t>•  One receptionist, one phone line, and a queue at the desk</a:t>
            </a:r>
          </a:p>
        </p:txBody>
      </p:sp>
      <p:sp>
        <p:nvSpPr>
          <p:cNvPr id="7" name="TextBox 6"/>
          <p:cNvSpPr txBox="1"/>
          <p:nvPr/>
        </p:nvSpPr>
        <p:spPr>
          <a:xfrm>
            <a:off x="640080" y="2121408"/>
            <a:ext cx="5669280" cy="566928"/>
          </a:xfrm>
          <a:prstGeom prst="rect">
            <a:avLst/>
          </a:prstGeom>
          <a:noFill/>
        </p:spPr>
        <p:txBody>
          <a:bodyPr wrap="square" anchor="t">
            <a:spAutoFit/>
          </a:bodyPr>
          <a:lstStyle/>
          <a:p>
            <a:pPr algn="l">
              <a:lnSpc>
                <a:spcPct val="115000"/>
              </a:lnSpc>
            </a:pPr>
            <a:r>
              <a:rPr sz="1500" b="0">
                <a:solidFill>
                  <a:srgbClr val="0F172A"/>
                </a:solidFill>
                <a:latin typeface="Calibri"/>
              </a:rPr>
              <a:t>•  Calls missed out of hours, at lunch, during a rush</a:t>
            </a:r>
          </a:p>
        </p:txBody>
      </p:sp>
      <p:sp>
        <p:nvSpPr>
          <p:cNvPr id="8" name="TextBox 7"/>
          <p:cNvSpPr txBox="1"/>
          <p:nvPr/>
        </p:nvSpPr>
        <p:spPr>
          <a:xfrm>
            <a:off x="640080" y="2688336"/>
            <a:ext cx="5669280" cy="566928"/>
          </a:xfrm>
          <a:prstGeom prst="rect">
            <a:avLst/>
          </a:prstGeom>
          <a:noFill/>
        </p:spPr>
        <p:txBody>
          <a:bodyPr wrap="square" anchor="t">
            <a:spAutoFit/>
          </a:bodyPr>
          <a:lstStyle/>
          <a:p>
            <a:pPr algn="l">
              <a:lnSpc>
                <a:spcPct val="115000"/>
              </a:lnSpc>
            </a:pPr>
            <a:r>
              <a:rPr sz="1500" b="0">
                <a:solidFill>
                  <a:srgbClr val="0F172A"/>
                </a:solidFill>
                <a:latin typeface="Calibri"/>
              </a:rPr>
              <a:t>•  Every missed call is a patient who books elsewhere</a:t>
            </a:r>
          </a:p>
        </p:txBody>
      </p:sp>
      <p:sp>
        <p:nvSpPr>
          <p:cNvPr id="9" name="TextBox 8"/>
          <p:cNvSpPr txBox="1"/>
          <p:nvPr/>
        </p:nvSpPr>
        <p:spPr>
          <a:xfrm>
            <a:off x="640080" y="3255263"/>
            <a:ext cx="5669280" cy="566928"/>
          </a:xfrm>
          <a:prstGeom prst="rect">
            <a:avLst/>
          </a:prstGeom>
          <a:noFill/>
        </p:spPr>
        <p:txBody>
          <a:bodyPr wrap="square" anchor="t">
            <a:spAutoFit/>
          </a:bodyPr>
          <a:lstStyle/>
          <a:p>
            <a:pPr algn="l">
              <a:lnSpc>
                <a:spcPct val="115000"/>
              </a:lnSpc>
            </a:pPr>
            <a:r>
              <a:rPr sz="1500" b="0">
                <a:solidFill>
                  <a:srgbClr val="0F172A"/>
                </a:solidFill>
                <a:latin typeface="Calibri"/>
              </a:rPr>
              <a:t>•  Repetitive questions consume the day — hours, fees, booking</a:t>
            </a:r>
          </a:p>
        </p:txBody>
      </p:sp>
      <p:sp>
        <p:nvSpPr>
          <p:cNvPr id="10" name="TextBox 9"/>
          <p:cNvSpPr txBox="1"/>
          <p:nvPr/>
        </p:nvSpPr>
        <p:spPr>
          <a:xfrm>
            <a:off x="640080" y="3822191"/>
            <a:ext cx="5669280" cy="566928"/>
          </a:xfrm>
          <a:prstGeom prst="rect">
            <a:avLst/>
          </a:prstGeom>
          <a:noFill/>
        </p:spPr>
        <p:txBody>
          <a:bodyPr wrap="square" anchor="t">
            <a:spAutoFit/>
          </a:bodyPr>
          <a:lstStyle/>
          <a:p>
            <a:pPr algn="l">
              <a:lnSpc>
                <a:spcPct val="115000"/>
              </a:lnSpc>
            </a:pPr>
            <a:r>
              <a:rPr sz="1500" b="0">
                <a:solidFill>
                  <a:srgbClr val="0F172A"/>
                </a:solidFill>
                <a:latin typeface="Calibri"/>
              </a:rPr>
              <a:t>•  Repeat-prescription requests handled by phone tag</a:t>
            </a:r>
          </a:p>
        </p:txBody>
      </p:sp>
      <p:sp>
        <p:nvSpPr>
          <p:cNvPr id="11" name="TextBox 10"/>
          <p:cNvSpPr txBox="1"/>
          <p:nvPr/>
        </p:nvSpPr>
        <p:spPr>
          <a:xfrm>
            <a:off x="640080" y="4389120"/>
            <a:ext cx="5669280" cy="566928"/>
          </a:xfrm>
          <a:prstGeom prst="rect">
            <a:avLst/>
          </a:prstGeom>
          <a:noFill/>
        </p:spPr>
        <p:txBody>
          <a:bodyPr wrap="square" anchor="t">
            <a:spAutoFit/>
          </a:bodyPr>
          <a:lstStyle/>
          <a:p>
            <a:pPr algn="l">
              <a:lnSpc>
                <a:spcPct val="115000"/>
              </a:lnSpc>
            </a:pPr>
            <a:r>
              <a:rPr sz="1500" b="0">
                <a:solidFill>
                  <a:srgbClr val="0F172A"/>
                </a:solidFill>
                <a:latin typeface="Calibri"/>
              </a:rPr>
              <a:t>•  No written record of what was said on a call</a:t>
            </a:r>
          </a:p>
        </p:txBody>
      </p:sp>
      <p:sp>
        <p:nvSpPr>
          <p:cNvPr id="12" name="Rounded Rectangle 11"/>
          <p:cNvSpPr/>
          <p:nvPr/>
        </p:nvSpPr>
        <p:spPr>
          <a:xfrm>
            <a:off x="6949440" y="1737360"/>
            <a:ext cx="4572000" cy="13716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2000" b="1">
                <a:solidFill>
                  <a:srgbClr val="0F172A"/>
                </a:solidFill>
                <a:latin typeface="Calibri"/>
              </a:rPr>
              <a:t>A missed call is not a</a:t>
            </a:r>
          </a:p>
          <a:p>
            <a:pPr algn="ctr"/>
            <a:r>
              <a:rPr sz="2000" b="1">
                <a:solidFill>
                  <a:srgbClr val="0F172A"/>
                </a:solidFill>
                <a:latin typeface="Calibri"/>
              </a:rPr>
              <a:t>lost call — it is a</a:t>
            </a:r>
          </a:p>
          <a:p>
            <a:pPr algn="ctr"/>
            <a:r>
              <a:rPr sz="2000" b="1">
                <a:solidFill>
                  <a:srgbClr val="0F172A"/>
                </a:solidFill>
                <a:latin typeface="Calibri"/>
              </a:rPr>
              <a:t>lost patient.</a:t>
            </a:r>
          </a:p>
        </p:txBody>
      </p:sp>
      <p:sp>
        <p:nvSpPr>
          <p:cNvPr id="13" name="Rounded Rectangle 12"/>
          <p:cNvSpPr/>
          <p:nvPr/>
        </p:nvSpPr>
        <p:spPr>
          <a:xfrm>
            <a:off x="6949440" y="3383280"/>
            <a:ext cx="4572000" cy="21945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0">
                <a:solidFill>
                  <a:srgbClr val="555F6D"/>
                </a:solidFill>
                <a:latin typeface="Calibri"/>
              </a:rPr>
              <a:t>Reception is on another line,</a:t>
            </a:r>
          </a:p>
          <a:p>
            <a:pPr algn="ctr"/>
            <a:r>
              <a:rPr sz="1500" b="0">
                <a:solidFill>
                  <a:srgbClr val="555F6D"/>
                </a:solidFill>
                <a:latin typeface="Calibri"/>
              </a:rPr>
              <a:t>at lunch, or gone at six.</a:t>
            </a:r>
          </a:p>
          <a:p>
            <a:pPr algn="ctr"/>
            <a:endParaRPr sz="1500" b="0">
              <a:solidFill>
                <a:srgbClr val="555F6D"/>
              </a:solidFill>
              <a:latin typeface="Calibri"/>
            </a:endParaRPr>
          </a:p>
          <a:p>
            <a:pPr algn="ctr"/>
            <a:r>
              <a:rPr sz="1500" b="0">
                <a:solidFill>
                  <a:srgbClr val="555F6D"/>
                </a:solidFill>
                <a:latin typeface="Calibri"/>
              </a:rPr>
              <a:t>The phone keeps ringing.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The Solution</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An AI receptionist on the number patients already dial</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640080" y="1600200"/>
            <a:ext cx="3520440" cy="18288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7" name="TextBox 6"/>
          <p:cNvSpPr txBox="1"/>
          <p:nvPr/>
        </p:nvSpPr>
        <p:spPr>
          <a:xfrm>
            <a:off x="868680" y="1828800"/>
            <a:ext cx="3063240" cy="548640"/>
          </a:xfrm>
          <a:prstGeom prst="rect">
            <a:avLst/>
          </a:prstGeom>
          <a:noFill/>
        </p:spPr>
        <p:txBody>
          <a:bodyPr wrap="square" anchor="t">
            <a:spAutoFit/>
          </a:bodyPr>
          <a:lstStyle/>
          <a:p>
            <a:pPr algn="l">
              <a:lnSpc>
                <a:spcPct val="115000"/>
              </a:lnSpc>
            </a:pPr>
            <a:r>
              <a:rPr sz="1500" b="1">
                <a:solidFill>
                  <a:srgbClr val="0E7C86"/>
                </a:solidFill>
                <a:latin typeface="Calibri"/>
              </a:rPr>
              <a:t>Answers every call</a:t>
            </a:r>
          </a:p>
        </p:txBody>
      </p:sp>
      <p:sp>
        <p:nvSpPr>
          <p:cNvPr id="8" name="TextBox 7"/>
          <p:cNvSpPr txBox="1"/>
          <p:nvPr/>
        </p:nvSpPr>
        <p:spPr>
          <a:xfrm>
            <a:off x="868680" y="2468880"/>
            <a:ext cx="3063240" cy="822960"/>
          </a:xfrm>
          <a:prstGeom prst="rect">
            <a:avLst/>
          </a:prstGeom>
          <a:noFill/>
        </p:spPr>
        <p:txBody>
          <a:bodyPr wrap="square" anchor="t">
            <a:spAutoFit/>
          </a:bodyPr>
          <a:lstStyle/>
          <a:p>
            <a:pPr algn="l">
              <a:lnSpc>
                <a:spcPct val="115000"/>
              </a:lnSpc>
            </a:pPr>
            <a:r>
              <a:rPr sz="1250" b="0">
                <a:solidFill>
                  <a:srgbClr val="555F6D"/>
                </a:solidFill>
                <a:latin typeface="Calibri"/>
              </a:rPr>
              <a:t>Out of hours, during a rush, on a second line</a:t>
            </a:r>
          </a:p>
        </p:txBody>
      </p:sp>
      <p:sp>
        <p:nvSpPr>
          <p:cNvPr id="9" name="Rounded Rectangle 8"/>
          <p:cNvSpPr/>
          <p:nvPr/>
        </p:nvSpPr>
        <p:spPr>
          <a:xfrm>
            <a:off x="4434840" y="1600200"/>
            <a:ext cx="3520440" cy="18288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0" name="TextBox 9"/>
          <p:cNvSpPr txBox="1"/>
          <p:nvPr/>
        </p:nvSpPr>
        <p:spPr>
          <a:xfrm>
            <a:off x="4663440" y="1828800"/>
            <a:ext cx="3063240" cy="548640"/>
          </a:xfrm>
          <a:prstGeom prst="rect">
            <a:avLst/>
          </a:prstGeom>
          <a:noFill/>
        </p:spPr>
        <p:txBody>
          <a:bodyPr wrap="square" anchor="t">
            <a:spAutoFit/>
          </a:bodyPr>
          <a:lstStyle/>
          <a:p>
            <a:pPr algn="l">
              <a:lnSpc>
                <a:spcPct val="115000"/>
              </a:lnSpc>
            </a:pPr>
            <a:r>
              <a:rPr sz="1500" b="1">
                <a:solidFill>
                  <a:srgbClr val="0E7C86"/>
                </a:solidFill>
                <a:latin typeface="Calibri"/>
              </a:rPr>
              <a:t>Books and moves appointments</a:t>
            </a:r>
          </a:p>
        </p:txBody>
      </p:sp>
      <p:sp>
        <p:nvSpPr>
          <p:cNvPr id="11" name="TextBox 10"/>
          <p:cNvSpPr txBox="1"/>
          <p:nvPr/>
        </p:nvSpPr>
        <p:spPr>
          <a:xfrm>
            <a:off x="4663440" y="2468880"/>
            <a:ext cx="3063240" cy="822960"/>
          </a:xfrm>
          <a:prstGeom prst="rect">
            <a:avLst/>
          </a:prstGeom>
          <a:noFill/>
        </p:spPr>
        <p:txBody>
          <a:bodyPr wrap="square" anchor="t">
            <a:spAutoFit/>
          </a:bodyPr>
          <a:lstStyle/>
          <a:p>
            <a:pPr algn="l">
              <a:lnSpc>
                <a:spcPct val="115000"/>
              </a:lnSpc>
            </a:pPr>
            <a:r>
              <a:rPr sz="1250" b="0">
                <a:solidFill>
                  <a:srgbClr val="555F6D"/>
                </a:solidFill>
                <a:latin typeface="Calibri"/>
              </a:rPr>
              <a:t>Against the clinic's real availability</a:t>
            </a:r>
          </a:p>
        </p:txBody>
      </p:sp>
      <p:sp>
        <p:nvSpPr>
          <p:cNvPr id="12" name="Rounded Rectangle 11"/>
          <p:cNvSpPr/>
          <p:nvPr/>
        </p:nvSpPr>
        <p:spPr>
          <a:xfrm>
            <a:off x="8229600" y="1600200"/>
            <a:ext cx="3520440" cy="18288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3" name="TextBox 12"/>
          <p:cNvSpPr txBox="1"/>
          <p:nvPr/>
        </p:nvSpPr>
        <p:spPr>
          <a:xfrm>
            <a:off x="8458200" y="1828800"/>
            <a:ext cx="3063240" cy="548640"/>
          </a:xfrm>
          <a:prstGeom prst="rect">
            <a:avLst/>
          </a:prstGeom>
          <a:noFill/>
        </p:spPr>
        <p:txBody>
          <a:bodyPr wrap="square" anchor="t">
            <a:spAutoFit/>
          </a:bodyPr>
          <a:lstStyle/>
          <a:p>
            <a:pPr algn="l">
              <a:lnSpc>
                <a:spcPct val="115000"/>
              </a:lnSpc>
            </a:pPr>
            <a:r>
              <a:rPr sz="1500" b="1">
                <a:solidFill>
                  <a:srgbClr val="0E7C86"/>
                </a:solidFill>
                <a:latin typeface="Calibri"/>
              </a:rPr>
              <a:t>Answers from clinic documents</a:t>
            </a:r>
          </a:p>
        </p:txBody>
      </p:sp>
      <p:sp>
        <p:nvSpPr>
          <p:cNvPr id="14" name="TextBox 13"/>
          <p:cNvSpPr txBox="1"/>
          <p:nvPr/>
        </p:nvSpPr>
        <p:spPr>
          <a:xfrm>
            <a:off x="8458200" y="2468880"/>
            <a:ext cx="3063240" cy="822960"/>
          </a:xfrm>
          <a:prstGeom prst="rect">
            <a:avLst/>
          </a:prstGeom>
          <a:noFill/>
        </p:spPr>
        <p:txBody>
          <a:bodyPr wrap="square" anchor="t">
            <a:spAutoFit/>
          </a:bodyPr>
          <a:lstStyle/>
          <a:p>
            <a:pPr algn="l">
              <a:lnSpc>
                <a:spcPct val="115000"/>
              </a:lnSpc>
            </a:pPr>
            <a:r>
              <a:rPr sz="1250" b="0">
                <a:solidFill>
                  <a:srgbClr val="555F6D"/>
                </a:solidFill>
                <a:latin typeface="Calibri"/>
              </a:rPr>
              <a:t>Hours, fees, policies — the clinic's own words</a:t>
            </a:r>
          </a:p>
        </p:txBody>
      </p:sp>
      <p:sp>
        <p:nvSpPr>
          <p:cNvPr id="15" name="Rounded Rectangle 14"/>
          <p:cNvSpPr/>
          <p:nvPr/>
        </p:nvSpPr>
        <p:spPr>
          <a:xfrm>
            <a:off x="640080" y="3749039"/>
            <a:ext cx="3520440" cy="18288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6" name="TextBox 15"/>
          <p:cNvSpPr txBox="1"/>
          <p:nvPr/>
        </p:nvSpPr>
        <p:spPr>
          <a:xfrm>
            <a:off x="868680" y="3977639"/>
            <a:ext cx="3063240" cy="548640"/>
          </a:xfrm>
          <a:prstGeom prst="rect">
            <a:avLst/>
          </a:prstGeom>
          <a:noFill/>
        </p:spPr>
        <p:txBody>
          <a:bodyPr wrap="square" anchor="t">
            <a:spAutoFit/>
          </a:bodyPr>
          <a:lstStyle/>
          <a:p>
            <a:pPr algn="l">
              <a:lnSpc>
                <a:spcPct val="115000"/>
              </a:lnSpc>
            </a:pPr>
            <a:r>
              <a:rPr sz="1500" b="1">
                <a:solidFill>
                  <a:srgbClr val="0E7C86"/>
                </a:solidFill>
                <a:latin typeface="Calibri"/>
              </a:rPr>
              <a:t>Records refill requests</a:t>
            </a:r>
          </a:p>
        </p:txBody>
      </p:sp>
      <p:sp>
        <p:nvSpPr>
          <p:cNvPr id="17" name="TextBox 16"/>
          <p:cNvSpPr txBox="1"/>
          <p:nvPr/>
        </p:nvSpPr>
        <p:spPr>
          <a:xfrm>
            <a:off x="868680" y="4617720"/>
            <a:ext cx="3063240" cy="822960"/>
          </a:xfrm>
          <a:prstGeom prst="rect">
            <a:avLst/>
          </a:prstGeom>
          <a:noFill/>
        </p:spPr>
        <p:txBody>
          <a:bodyPr wrap="square" anchor="t">
            <a:spAutoFit/>
          </a:bodyPr>
          <a:lstStyle/>
          <a:p>
            <a:pPr algn="l">
              <a:lnSpc>
                <a:spcPct val="115000"/>
              </a:lnSpc>
            </a:pPr>
            <a:r>
              <a:rPr sz="1250" b="0">
                <a:solidFill>
                  <a:srgbClr val="555F6D"/>
                </a:solidFill>
                <a:latin typeface="Calibri"/>
              </a:rPr>
              <a:t>Records them; a person always decides</a:t>
            </a:r>
          </a:p>
        </p:txBody>
      </p:sp>
      <p:sp>
        <p:nvSpPr>
          <p:cNvPr id="18" name="Rounded Rectangle 17"/>
          <p:cNvSpPr/>
          <p:nvPr/>
        </p:nvSpPr>
        <p:spPr>
          <a:xfrm>
            <a:off x="4434840" y="3749039"/>
            <a:ext cx="3520440" cy="18288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9" name="TextBox 18"/>
          <p:cNvSpPr txBox="1"/>
          <p:nvPr/>
        </p:nvSpPr>
        <p:spPr>
          <a:xfrm>
            <a:off x="4663440" y="3977639"/>
            <a:ext cx="3063240" cy="548640"/>
          </a:xfrm>
          <a:prstGeom prst="rect">
            <a:avLst/>
          </a:prstGeom>
          <a:noFill/>
        </p:spPr>
        <p:txBody>
          <a:bodyPr wrap="square" anchor="t">
            <a:spAutoFit/>
          </a:bodyPr>
          <a:lstStyle/>
          <a:p>
            <a:pPr algn="l">
              <a:lnSpc>
                <a:spcPct val="115000"/>
              </a:lnSpc>
            </a:pPr>
            <a:r>
              <a:rPr sz="1500" b="1">
                <a:solidFill>
                  <a:srgbClr val="0E7C86"/>
                </a:solidFill>
                <a:latin typeface="Calibri"/>
              </a:rPr>
              <a:t>Transfers to a human</a:t>
            </a:r>
          </a:p>
        </p:txBody>
      </p:sp>
      <p:sp>
        <p:nvSpPr>
          <p:cNvPr id="20" name="TextBox 19"/>
          <p:cNvSpPr txBox="1"/>
          <p:nvPr/>
        </p:nvSpPr>
        <p:spPr>
          <a:xfrm>
            <a:off x="4663440" y="4617720"/>
            <a:ext cx="3063240" cy="822960"/>
          </a:xfrm>
          <a:prstGeom prst="rect">
            <a:avLst/>
          </a:prstGeom>
          <a:noFill/>
        </p:spPr>
        <p:txBody>
          <a:bodyPr wrap="square" anchor="t">
            <a:spAutoFit/>
          </a:bodyPr>
          <a:lstStyle/>
          <a:p>
            <a:pPr algn="l">
              <a:lnSpc>
                <a:spcPct val="115000"/>
              </a:lnSpc>
            </a:pPr>
            <a:r>
              <a:rPr sz="1250" b="0">
                <a:solidFill>
                  <a:srgbClr val="555F6D"/>
                </a:solidFill>
                <a:latin typeface="Calibri"/>
              </a:rPr>
              <a:t>On request, and on an emergency</a:t>
            </a:r>
          </a:p>
        </p:txBody>
      </p:sp>
      <p:sp>
        <p:nvSpPr>
          <p:cNvPr id="21" name="Rounded Rectangle 20"/>
          <p:cNvSpPr/>
          <p:nvPr/>
        </p:nvSpPr>
        <p:spPr>
          <a:xfrm>
            <a:off x="8229600" y="3749039"/>
            <a:ext cx="3520440" cy="18288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 name="TextBox 21"/>
          <p:cNvSpPr txBox="1"/>
          <p:nvPr/>
        </p:nvSpPr>
        <p:spPr>
          <a:xfrm>
            <a:off x="8458200" y="3977639"/>
            <a:ext cx="3063240" cy="548640"/>
          </a:xfrm>
          <a:prstGeom prst="rect">
            <a:avLst/>
          </a:prstGeom>
          <a:noFill/>
        </p:spPr>
        <p:txBody>
          <a:bodyPr wrap="square" anchor="t">
            <a:spAutoFit/>
          </a:bodyPr>
          <a:lstStyle/>
          <a:p>
            <a:pPr algn="l">
              <a:lnSpc>
                <a:spcPct val="115000"/>
              </a:lnSpc>
            </a:pPr>
            <a:r>
              <a:rPr sz="1500" b="1">
                <a:solidFill>
                  <a:srgbClr val="0E7C86"/>
                </a:solidFill>
                <a:latin typeface="Calibri"/>
              </a:rPr>
              <a:t>Writes everything down</a:t>
            </a:r>
          </a:p>
        </p:txBody>
      </p:sp>
      <p:sp>
        <p:nvSpPr>
          <p:cNvPr id="23" name="TextBox 22"/>
          <p:cNvSpPr txBox="1"/>
          <p:nvPr/>
        </p:nvSpPr>
        <p:spPr>
          <a:xfrm>
            <a:off x="8458200" y="4617720"/>
            <a:ext cx="3063240" cy="822960"/>
          </a:xfrm>
          <a:prstGeom prst="rect">
            <a:avLst/>
          </a:prstGeom>
          <a:noFill/>
        </p:spPr>
        <p:txBody>
          <a:bodyPr wrap="square" anchor="t">
            <a:spAutoFit/>
          </a:bodyPr>
          <a:lstStyle/>
          <a:p>
            <a:pPr algn="l">
              <a:lnSpc>
                <a:spcPct val="115000"/>
              </a:lnSpc>
            </a:pPr>
            <a:r>
              <a:rPr sz="1250" b="0">
                <a:solidFill>
                  <a:srgbClr val="555F6D"/>
                </a:solidFill>
                <a:latin typeface="Calibri"/>
              </a:rPr>
              <a:t>Transcript, summary and outcome per call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Overall Architecture</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Two entry points, one backend, one database</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48640" y="1463040"/>
            <a:ext cx="2103120" cy="73152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Clinic staff</a:t>
            </a:r>
          </a:p>
          <a:p>
            <a:pPr algn="ctr"/>
            <a:r>
              <a:rPr sz="1300" b="1">
                <a:solidFill>
                  <a:srgbClr val="0F172A"/>
                </a:solidFill>
                <a:latin typeface="Calibri"/>
              </a:rPr>
              <a:t>(browser)</a:t>
            </a:r>
          </a:p>
        </p:txBody>
      </p:sp>
      <p:sp>
        <p:nvSpPr>
          <p:cNvPr id="7" name="Rounded Rectangle 6"/>
          <p:cNvSpPr/>
          <p:nvPr/>
        </p:nvSpPr>
        <p:spPr>
          <a:xfrm>
            <a:off x="548640" y="2514600"/>
            <a:ext cx="2103120" cy="73152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Patient</a:t>
            </a:r>
          </a:p>
          <a:p>
            <a:pPr algn="ctr"/>
            <a:r>
              <a:rPr sz="1300" b="1">
                <a:solidFill>
                  <a:srgbClr val="0F172A"/>
                </a:solidFill>
                <a:latin typeface="Calibri"/>
              </a:rPr>
              <a:t>(telephone)</a:t>
            </a:r>
          </a:p>
        </p:txBody>
      </p:sp>
      <p:sp>
        <p:nvSpPr>
          <p:cNvPr id="8" name="Right Arrow 7"/>
          <p:cNvSpPr/>
          <p:nvPr/>
        </p:nvSpPr>
        <p:spPr>
          <a:xfrm>
            <a:off x="2743200" y="1691640"/>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ight Arrow 8"/>
          <p:cNvSpPr/>
          <p:nvPr/>
        </p:nvSpPr>
        <p:spPr>
          <a:xfrm>
            <a:off x="2743200" y="2743200"/>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246120" y="1463040"/>
            <a:ext cx="228600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React Frontend</a:t>
            </a:r>
          </a:p>
          <a:p>
            <a:pPr algn="ctr"/>
            <a:r>
              <a:rPr sz="1200" b="0">
                <a:solidFill>
                  <a:srgbClr val="0F172A"/>
                </a:solidFill>
                <a:latin typeface="Calibri"/>
              </a:rPr>
              <a:t>Vite + Router</a:t>
            </a:r>
          </a:p>
        </p:txBody>
      </p:sp>
      <p:sp>
        <p:nvSpPr>
          <p:cNvPr id="11" name="Rounded Rectangle 10"/>
          <p:cNvSpPr/>
          <p:nvPr/>
        </p:nvSpPr>
        <p:spPr>
          <a:xfrm>
            <a:off x="3246120" y="2514600"/>
            <a:ext cx="228600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Twilio</a:t>
            </a:r>
          </a:p>
          <a:p>
            <a:pPr algn="ctr"/>
            <a:r>
              <a:rPr sz="1200" b="0">
                <a:solidFill>
                  <a:srgbClr val="0F172A"/>
                </a:solidFill>
                <a:latin typeface="Calibri"/>
              </a:rPr>
              <a:t>(PSTN)</a:t>
            </a:r>
          </a:p>
        </p:txBody>
      </p:sp>
      <p:sp>
        <p:nvSpPr>
          <p:cNvPr id="12" name="Right Arrow 11"/>
          <p:cNvSpPr/>
          <p:nvPr/>
        </p:nvSpPr>
        <p:spPr>
          <a:xfrm>
            <a:off x="5623560" y="1691640"/>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ight Arrow 12"/>
          <p:cNvSpPr/>
          <p:nvPr/>
        </p:nvSpPr>
        <p:spPr>
          <a:xfrm>
            <a:off x="5623560" y="2743200"/>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126480" y="2514600"/>
            <a:ext cx="228600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Voice Gateway</a:t>
            </a:r>
          </a:p>
          <a:p>
            <a:pPr algn="ctr"/>
            <a:r>
              <a:rPr sz="1200" b="0">
                <a:solidFill>
                  <a:srgbClr val="0F172A"/>
                </a:solidFill>
                <a:latin typeface="Calibri"/>
              </a:rPr>
              <a:t>Media Stream</a:t>
            </a:r>
          </a:p>
        </p:txBody>
      </p:sp>
      <p:sp>
        <p:nvSpPr>
          <p:cNvPr id="15" name="Rounded Rectangle 14"/>
          <p:cNvSpPr/>
          <p:nvPr/>
        </p:nvSpPr>
        <p:spPr>
          <a:xfrm>
            <a:off x="6126480" y="1463040"/>
            <a:ext cx="2286000" cy="73152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1">
                <a:solidFill>
                  <a:srgbClr val="FFFFFF"/>
                </a:solidFill>
                <a:latin typeface="Calibri"/>
              </a:rPr>
              <a:t>FastAPI Backend</a:t>
            </a:r>
          </a:p>
          <a:p>
            <a:pPr algn="ctr"/>
            <a:r>
              <a:rPr sz="1200" b="1">
                <a:solidFill>
                  <a:srgbClr val="FFFFFF"/>
                </a:solidFill>
                <a:latin typeface="Calibri"/>
              </a:rPr>
              <a:t>176 routes</a:t>
            </a:r>
          </a:p>
        </p:txBody>
      </p:sp>
      <p:sp>
        <p:nvSpPr>
          <p:cNvPr id="16" name="Down Arrow 15"/>
          <p:cNvSpPr/>
          <p:nvPr/>
        </p:nvSpPr>
        <p:spPr>
          <a:xfrm>
            <a:off x="7040880" y="2240280"/>
            <a:ext cx="237744" cy="256032"/>
          </a:xfrm>
          <a:prstGeom prst="down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8915400" y="2514600"/>
            <a:ext cx="274320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0F172A"/>
                </a:solidFill>
                <a:latin typeface="Calibri"/>
              </a:rPr>
              <a:t>Deepgram STT · Groq LLM</a:t>
            </a:r>
          </a:p>
          <a:p>
            <a:pPr algn="ctr"/>
            <a:r>
              <a:rPr sz="1100" b="0">
                <a:solidFill>
                  <a:srgbClr val="0F172A"/>
                </a:solidFill>
                <a:latin typeface="Calibri"/>
              </a:rPr>
              <a:t>Sarvam TTS</a:t>
            </a:r>
          </a:p>
        </p:txBody>
      </p:sp>
      <p:sp>
        <p:nvSpPr>
          <p:cNvPr id="18" name="Right Arrow 17"/>
          <p:cNvSpPr/>
          <p:nvPr/>
        </p:nvSpPr>
        <p:spPr>
          <a:xfrm>
            <a:off x="8503920" y="2743200"/>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8915400" y="1463040"/>
            <a:ext cx="274320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SQL Server</a:t>
            </a:r>
          </a:p>
          <a:p>
            <a:pPr algn="ctr"/>
            <a:r>
              <a:rPr sz="1200" b="0">
                <a:solidFill>
                  <a:srgbClr val="0F172A"/>
                </a:solidFill>
                <a:latin typeface="Calibri"/>
              </a:rPr>
              <a:t>39 tables</a:t>
            </a:r>
          </a:p>
        </p:txBody>
      </p:sp>
      <p:sp>
        <p:nvSpPr>
          <p:cNvPr id="20" name="Right Arrow 19"/>
          <p:cNvSpPr/>
          <p:nvPr/>
        </p:nvSpPr>
        <p:spPr>
          <a:xfrm>
            <a:off x="8503920" y="1691640"/>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246120" y="3977639"/>
            <a:ext cx="5166360" cy="6858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WebSocket  →  live dashboard updates</a:t>
            </a:r>
          </a:p>
        </p:txBody>
      </p:sp>
      <p:sp>
        <p:nvSpPr>
          <p:cNvPr id="22" name="Rounded Rectangle 21"/>
          <p:cNvSpPr/>
          <p:nvPr/>
        </p:nvSpPr>
        <p:spPr>
          <a:xfrm>
            <a:off x="8915400" y="3977639"/>
            <a:ext cx="2743200" cy="685800"/>
          </a:xfrm>
          <a:prstGeom prst="roundRect">
            <a:avLst/>
          </a:prstGeom>
          <a:solidFill>
            <a:srgbClr val="FFFFFF"/>
          </a:solidFill>
          <a:ln w="15875">
            <a:solidFill>
              <a:srgbClr val="555F6D"/>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00" b="0">
                <a:solidFill>
                  <a:srgbClr val="555F6D"/>
                </a:solidFill>
                <a:latin typeface="Calibri"/>
              </a:rPr>
              <a:t>Clinic EHR gateway</a:t>
            </a:r>
          </a:p>
          <a:p>
            <a:pPr algn="ctr"/>
            <a:r>
              <a:rPr sz="1100" b="0">
                <a:solidFill>
                  <a:srgbClr val="555F6D"/>
                </a:solidFill>
                <a:latin typeface="Calibri"/>
              </a:rPr>
              <a:t>(optional)</a:t>
            </a:r>
          </a:p>
        </p:txBody>
      </p:sp>
      <p:sp>
        <p:nvSpPr>
          <p:cNvPr id="23" name="TextBox 22"/>
          <p:cNvSpPr txBox="1"/>
          <p:nvPr/>
        </p:nvSpPr>
        <p:spPr>
          <a:xfrm>
            <a:off x="548640" y="5029200"/>
            <a:ext cx="11155680" cy="1280160"/>
          </a:xfrm>
          <a:prstGeom prst="rect">
            <a:avLst/>
          </a:prstGeom>
          <a:noFill/>
        </p:spPr>
        <p:txBody>
          <a:bodyPr wrap="square" anchor="t">
            <a:spAutoFit/>
          </a:bodyPr>
          <a:lstStyle/>
          <a:p>
            <a:pPr algn="l">
              <a:lnSpc>
                <a:spcPct val="115000"/>
              </a:lnSpc>
            </a:pPr>
            <a:r>
              <a:rPr sz="1300" b="0">
                <a:solidFill>
                  <a:srgbClr val="555F6D"/>
                </a:solidFill>
                <a:latin typeface="Calibri"/>
              </a:rPr>
              <a:t>Verified: the voice path is Twilio Media Streams over a WebSocket — no SIP trunk. LiveKit is a retained fallback, not the live path. The agent holds no business logic: it calls the same APIs the dashboard uses.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Application Flow</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What a clinic user does, in order</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2011680"/>
            <a:ext cx="1691640" cy="9144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Login</a:t>
            </a:r>
          </a:p>
        </p:txBody>
      </p:sp>
      <p:sp>
        <p:nvSpPr>
          <p:cNvPr id="7" name="Right Arrow 6"/>
          <p:cNvSpPr/>
          <p:nvPr/>
        </p:nvSpPr>
        <p:spPr>
          <a:xfrm>
            <a:off x="2240280" y="2350008"/>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450591" y="2011680"/>
            <a:ext cx="169164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Dashboard</a:t>
            </a:r>
          </a:p>
        </p:txBody>
      </p:sp>
      <p:sp>
        <p:nvSpPr>
          <p:cNvPr id="9" name="Right Arrow 8"/>
          <p:cNvSpPr/>
          <p:nvPr/>
        </p:nvSpPr>
        <p:spPr>
          <a:xfrm>
            <a:off x="4187952" y="2350008"/>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4398264" y="2011680"/>
            <a:ext cx="169164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Patients</a:t>
            </a:r>
          </a:p>
        </p:txBody>
      </p:sp>
      <p:sp>
        <p:nvSpPr>
          <p:cNvPr id="11" name="Right Arrow 10"/>
          <p:cNvSpPr/>
          <p:nvPr/>
        </p:nvSpPr>
        <p:spPr>
          <a:xfrm>
            <a:off x="6135623" y="2350008"/>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6345936" y="2011680"/>
            <a:ext cx="169164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Appointments</a:t>
            </a:r>
          </a:p>
        </p:txBody>
      </p:sp>
      <p:sp>
        <p:nvSpPr>
          <p:cNvPr id="13" name="Right Arrow 12"/>
          <p:cNvSpPr/>
          <p:nvPr/>
        </p:nvSpPr>
        <p:spPr>
          <a:xfrm>
            <a:off x="8083296" y="2350008"/>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8293608" y="2011680"/>
            <a:ext cx="169164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Calls</a:t>
            </a:r>
          </a:p>
        </p:txBody>
      </p:sp>
      <p:sp>
        <p:nvSpPr>
          <p:cNvPr id="15" name="Right Arrow 14"/>
          <p:cNvSpPr/>
          <p:nvPr/>
        </p:nvSpPr>
        <p:spPr>
          <a:xfrm>
            <a:off x="10030968" y="2350008"/>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ounded Rectangle 15"/>
          <p:cNvSpPr/>
          <p:nvPr/>
        </p:nvSpPr>
        <p:spPr>
          <a:xfrm>
            <a:off x="10241280" y="2011680"/>
            <a:ext cx="169164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EHR / Settings</a:t>
            </a:r>
          </a:p>
        </p:txBody>
      </p:sp>
      <p:sp>
        <p:nvSpPr>
          <p:cNvPr id="17" name="TextBox 16"/>
          <p:cNvSpPr txBox="1"/>
          <p:nvPr/>
        </p:nvSpPr>
        <p:spPr>
          <a:xfrm>
            <a:off x="502920" y="3291840"/>
            <a:ext cx="11155680" cy="457200"/>
          </a:xfrm>
          <a:prstGeom prst="rect">
            <a:avLst/>
          </a:prstGeom>
          <a:noFill/>
        </p:spPr>
        <p:txBody>
          <a:bodyPr wrap="square" anchor="t">
            <a:spAutoFit/>
          </a:bodyPr>
          <a:lstStyle/>
          <a:p>
            <a:pPr algn="l">
              <a:lnSpc>
                <a:spcPct val="115000"/>
              </a:lnSpc>
            </a:pPr>
            <a:r>
              <a:rPr sz="1500" b="1">
                <a:solidFill>
                  <a:srgbClr val="0F172A"/>
                </a:solidFill>
                <a:latin typeface="Calibri"/>
              </a:rPr>
              <a:t>Each screen loads its own data on open:</a:t>
            </a:r>
          </a:p>
        </p:txBody>
      </p:sp>
      <p:sp>
        <p:nvSpPr>
          <p:cNvPr id="18" name="TextBox 17"/>
          <p:cNvSpPr txBox="1"/>
          <p:nvPr/>
        </p:nvSpPr>
        <p:spPr>
          <a:xfrm>
            <a:off x="731520" y="3794760"/>
            <a:ext cx="10515600" cy="365760"/>
          </a:xfrm>
          <a:prstGeom prst="rect">
            <a:avLst/>
          </a:prstGeom>
          <a:noFill/>
        </p:spPr>
        <p:txBody>
          <a:bodyPr wrap="square" anchor="t">
            <a:spAutoFit/>
          </a:bodyPr>
          <a:lstStyle/>
          <a:p>
            <a:pPr algn="l">
              <a:lnSpc>
                <a:spcPct val="115000"/>
              </a:lnSpc>
            </a:pPr>
            <a:r>
              <a:rPr sz="1300" b="0">
                <a:solidFill>
                  <a:srgbClr val="555F6D"/>
                </a:solidFill>
                <a:latin typeface="Consolas"/>
              </a:rPr>
              <a:t>Dashboard   →  GET /dashboard/stats  +  WebSocket connect</a:t>
            </a:r>
          </a:p>
        </p:txBody>
      </p:sp>
      <p:sp>
        <p:nvSpPr>
          <p:cNvPr id="19" name="TextBox 18"/>
          <p:cNvSpPr txBox="1"/>
          <p:nvPr/>
        </p:nvSpPr>
        <p:spPr>
          <a:xfrm>
            <a:off x="731520" y="4178808"/>
            <a:ext cx="10515600" cy="365760"/>
          </a:xfrm>
          <a:prstGeom prst="rect">
            <a:avLst/>
          </a:prstGeom>
          <a:noFill/>
        </p:spPr>
        <p:txBody>
          <a:bodyPr wrap="square" anchor="t">
            <a:spAutoFit/>
          </a:bodyPr>
          <a:lstStyle/>
          <a:p>
            <a:pPr algn="l">
              <a:lnSpc>
                <a:spcPct val="115000"/>
              </a:lnSpc>
            </a:pPr>
            <a:r>
              <a:rPr sz="1300" b="0">
                <a:solidFill>
                  <a:srgbClr val="555F6D"/>
                </a:solidFill>
                <a:latin typeface="Consolas"/>
              </a:rPr>
              <a:t>Patients    →  GET /patients          (org-scoped)</a:t>
            </a:r>
          </a:p>
        </p:txBody>
      </p:sp>
      <p:sp>
        <p:nvSpPr>
          <p:cNvPr id="20" name="TextBox 19"/>
          <p:cNvSpPr txBox="1"/>
          <p:nvPr/>
        </p:nvSpPr>
        <p:spPr>
          <a:xfrm>
            <a:off x="731520" y="4562856"/>
            <a:ext cx="10515600" cy="365760"/>
          </a:xfrm>
          <a:prstGeom prst="rect">
            <a:avLst/>
          </a:prstGeom>
          <a:noFill/>
        </p:spPr>
        <p:txBody>
          <a:bodyPr wrap="square" anchor="t">
            <a:spAutoFit/>
          </a:bodyPr>
          <a:lstStyle/>
          <a:p>
            <a:pPr algn="l">
              <a:lnSpc>
                <a:spcPct val="115000"/>
              </a:lnSpc>
            </a:pPr>
            <a:r>
              <a:rPr sz="1300" b="0">
                <a:solidFill>
                  <a:srgbClr val="555F6D"/>
                </a:solidFill>
                <a:latin typeface="Consolas"/>
              </a:rPr>
              <a:t>Appointments→  GET /appointments, /patients, /doctors</a:t>
            </a:r>
          </a:p>
        </p:txBody>
      </p:sp>
      <p:sp>
        <p:nvSpPr>
          <p:cNvPr id="21" name="TextBox 20"/>
          <p:cNvSpPr txBox="1"/>
          <p:nvPr/>
        </p:nvSpPr>
        <p:spPr>
          <a:xfrm>
            <a:off x="731520" y="4946904"/>
            <a:ext cx="10515600" cy="365760"/>
          </a:xfrm>
          <a:prstGeom prst="rect">
            <a:avLst/>
          </a:prstGeom>
          <a:noFill/>
        </p:spPr>
        <p:txBody>
          <a:bodyPr wrap="square" anchor="t">
            <a:spAutoFit/>
          </a:bodyPr>
          <a:lstStyle/>
          <a:p>
            <a:pPr algn="l">
              <a:lnSpc>
                <a:spcPct val="115000"/>
              </a:lnSpc>
            </a:pPr>
            <a:r>
              <a:rPr sz="1300" b="0">
                <a:solidFill>
                  <a:srgbClr val="555F6D"/>
                </a:solidFill>
                <a:latin typeface="Consolas"/>
              </a:rPr>
              <a:t>Calls       →  GET /calls             (transcripts on open)</a:t>
            </a:r>
          </a:p>
        </p:txBody>
      </p:sp>
      <p:sp>
        <p:nvSpPr>
          <p:cNvPr id="22" name="TextBox 21"/>
          <p:cNvSpPr txBox="1"/>
          <p:nvPr/>
        </p:nvSpPr>
        <p:spPr>
          <a:xfrm>
            <a:off x="731520" y="5330952"/>
            <a:ext cx="10515600" cy="365760"/>
          </a:xfrm>
          <a:prstGeom prst="rect">
            <a:avLst/>
          </a:prstGeom>
          <a:noFill/>
        </p:spPr>
        <p:txBody>
          <a:bodyPr wrap="square" anchor="t">
            <a:spAutoFit/>
          </a:bodyPr>
          <a:lstStyle/>
          <a:p>
            <a:pPr algn="l">
              <a:lnSpc>
                <a:spcPct val="115000"/>
              </a:lnSpc>
            </a:pPr>
            <a:r>
              <a:rPr sz="1300" b="0">
                <a:solidFill>
                  <a:srgbClr val="555F6D"/>
                </a:solidFill>
                <a:latin typeface="Consolas"/>
              </a:rPr>
              <a:t>EHR         →  GET /ehr/integrations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Login &amp; Authentication</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Password never stored · signed token on every request</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60020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Login form</a:t>
            </a:r>
          </a:p>
        </p:txBody>
      </p:sp>
      <p:sp>
        <p:nvSpPr>
          <p:cNvPr id="7" name="Right Arrow 6"/>
          <p:cNvSpPr/>
          <p:nvPr/>
        </p:nvSpPr>
        <p:spPr>
          <a:xfrm>
            <a:off x="2606039" y="190195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34639" y="160020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POST /auth/login</a:t>
            </a:r>
          </a:p>
        </p:txBody>
      </p:sp>
      <p:sp>
        <p:nvSpPr>
          <p:cNvPr id="9" name="Right Arrow 8"/>
          <p:cNvSpPr/>
          <p:nvPr/>
        </p:nvSpPr>
        <p:spPr>
          <a:xfrm>
            <a:off x="4937759" y="190195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66359" y="160020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Verify hash</a:t>
            </a:r>
          </a:p>
          <a:p>
            <a:pPr algn="ctr"/>
            <a:r>
              <a:rPr sz="1250" b="0">
                <a:solidFill>
                  <a:srgbClr val="0F172A"/>
                </a:solidFill>
                <a:latin typeface="Calibri"/>
              </a:rPr>
              <a:t>(bcrypt)</a:t>
            </a:r>
          </a:p>
        </p:txBody>
      </p:sp>
      <p:sp>
        <p:nvSpPr>
          <p:cNvPr id="11" name="Right Arrow 10"/>
          <p:cNvSpPr/>
          <p:nvPr/>
        </p:nvSpPr>
        <p:spPr>
          <a:xfrm>
            <a:off x="7269479" y="190195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98079" y="160020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Create JWT</a:t>
            </a:r>
          </a:p>
        </p:txBody>
      </p:sp>
      <p:sp>
        <p:nvSpPr>
          <p:cNvPr id="13" name="Right Arrow 12"/>
          <p:cNvSpPr/>
          <p:nvPr/>
        </p:nvSpPr>
        <p:spPr>
          <a:xfrm>
            <a:off x="9601200" y="190195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829800" y="160020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Protected app</a:t>
            </a:r>
          </a:p>
        </p:txBody>
      </p:sp>
      <p:sp>
        <p:nvSpPr>
          <p:cNvPr id="15" name="Rectangle 14"/>
          <p:cNvSpPr/>
          <p:nvPr/>
        </p:nvSpPr>
        <p:spPr>
          <a:xfrm>
            <a:off x="502920" y="2834640"/>
            <a:ext cx="5486400" cy="3017520"/>
          </a:xfrm>
          <a:prstGeom prst="rect">
            <a:avLst/>
          </a:prstGeom>
          <a:solidFill>
            <a:srgbClr val="F4F7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E7C86"/>
                </a:solidFill>
              </a:rPr>
              <a:t>[ ADD SCREENSHOT — LOGIN PAGE ]</a:t>
            </a:r>
          </a:p>
        </p:txBody>
      </p:sp>
      <p:sp>
        <p:nvSpPr>
          <p:cNvPr id="16" name="TextBox 15"/>
          <p:cNvSpPr txBox="1"/>
          <p:nvPr/>
        </p:nvSpPr>
        <p:spPr>
          <a:xfrm>
            <a:off x="6400800" y="2834640"/>
            <a:ext cx="5303520" cy="411480"/>
          </a:xfrm>
          <a:prstGeom prst="rect">
            <a:avLst/>
          </a:prstGeom>
          <a:noFill/>
        </p:spPr>
        <p:txBody>
          <a:bodyPr wrap="square" anchor="t">
            <a:spAutoFit/>
          </a:bodyPr>
          <a:lstStyle/>
          <a:p>
            <a:pPr algn="l">
              <a:lnSpc>
                <a:spcPct val="115000"/>
              </a:lnSpc>
            </a:pPr>
            <a:r>
              <a:rPr sz="1600" b="1">
                <a:solidFill>
                  <a:srgbClr val="0E7C86"/>
                </a:solidFill>
                <a:latin typeface="Calibri"/>
              </a:rPr>
              <a:t>Three token types that never cross</a:t>
            </a:r>
          </a:p>
        </p:txBody>
      </p:sp>
      <p:sp>
        <p:nvSpPr>
          <p:cNvPr id="17" name="TextBox 16"/>
          <p:cNvSpPr txBox="1"/>
          <p:nvPr/>
        </p:nvSpPr>
        <p:spPr>
          <a:xfrm>
            <a:off x="6400800" y="3337560"/>
            <a:ext cx="5303520" cy="502920"/>
          </a:xfrm>
          <a:prstGeom prst="rect">
            <a:avLst/>
          </a:prstGeom>
          <a:noFill/>
        </p:spPr>
        <p:txBody>
          <a:bodyPr wrap="square" anchor="t">
            <a:spAutoFit/>
          </a:bodyPr>
          <a:lstStyle/>
          <a:p>
            <a:pPr algn="l">
              <a:lnSpc>
                <a:spcPct val="115000"/>
              </a:lnSpc>
            </a:pPr>
            <a:r>
              <a:rPr sz="1400" b="0">
                <a:solidFill>
                  <a:srgbClr val="0F172A"/>
                </a:solidFill>
                <a:latin typeface="Calibri"/>
              </a:rPr>
              <a:t>Staff  —  the clinic dashboard</a:t>
            </a:r>
          </a:p>
        </p:txBody>
      </p:sp>
      <p:sp>
        <p:nvSpPr>
          <p:cNvPr id="18" name="TextBox 17"/>
          <p:cNvSpPr txBox="1"/>
          <p:nvPr/>
        </p:nvSpPr>
        <p:spPr>
          <a:xfrm>
            <a:off x="6400800" y="3904487"/>
            <a:ext cx="5303520" cy="502920"/>
          </a:xfrm>
          <a:prstGeom prst="rect">
            <a:avLst/>
          </a:prstGeom>
          <a:noFill/>
        </p:spPr>
        <p:txBody>
          <a:bodyPr wrap="square" anchor="t">
            <a:spAutoFit/>
          </a:bodyPr>
          <a:lstStyle/>
          <a:p>
            <a:pPr algn="l">
              <a:lnSpc>
                <a:spcPct val="115000"/>
              </a:lnSpc>
            </a:pPr>
            <a:r>
              <a:rPr sz="1400" b="0">
                <a:solidFill>
                  <a:srgbClr val="0F172A"/>
                </a:solidFill>
                <a:latin typeface="Calibri"/>
              </a:rPr>
              <a:t>Super admin  —  the platform console</a:t>
            </a:r>
          </a:p>
        </p:txBody>
      </p:sp>
      <p:sp>
        <p:nvSpPr>
          <p:cNvPr id="19" name="TextBox 18"/>
          <p:cNvSpPr txBox="1"/>
          <p:nvPr/>
        </p:nvSpPr>
        <p:spPr>
          <a:xfrm>
            <a:off x="6400800" y="4471416"/>
            <a:ext cx="5303520" cy="502920"/>
          </a:xfrm>
          <a:prstGeom prst="rect">
            <a:avLst/>
          </a:prstGeom>
          <a:noFill/>
        </p:spPr>
        <p:txBody>
          <a:bodyPr wrap="square" anchor="t">
            <a:spAutoFit/>
          </a:bodyPr>
          <a:lstStyle/>
          <a:p>
            <a:pPr algn="l">
              <a:lnSpc>
                <a:spcPct val="115000"/>
              </a:lnSpc>
            </a:pPr>
            <a:r>
              <a:rPr sz="1400" b="0">
                <a:solidFill>
                  <a:srgbClr val="0F172A"/>
                </a:solidFill>
                <a:latin typeface="Calibri"/>
              </a:rPr>
              <a:t>Agent  —  one phone call only</a:t>
            </a:r>
          </a:p>
        </p:txBody>
      </p:sp>
      <p:sp>
        <p:nvSpPr>
          <p:cNvPr id="20" name="TextBox 19"/>
          <p:cNvSpPr txBox="1"/>
          <p:nvPr/>
        </p:nvSpPr>
        <p:spPr>
          <a:xfrm>
            <a:off x="6400800" y="5120640"/>
            <a:ext cx="5303520" cy="731520"/>
          </a:xfrm>
          <a:prstGeom prst="rect">
            <a:avLst/>
          </a:prstGeom>
          <a:noFill/>
        </p:spPr>
        <p:txBody>
          <a:bodyPr wrap="square" anchor="t">
            <a:spAutoFit/>
          </a:bodyPr>
          <a:lstStyle/>
          <a:p>
            <a:pPr algn="l">
              <a:lnSpc>
                <a:spcPct val="115000"/>
              </a:lnSpc>
            </a:pPr>
            <a:r>
              <a:rPr sz="1250" b="0">
                <a:solidFill>
                  <a:srgbClr val="555F6D"/>
                </a:solidFill>
                <a:latin typeface="Calibri"/>
              </a:rPr>
              <a:t>Rate limited twice: per IP address and per email account, so a distributed attempt is throttled too.</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Dashboard</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Every figure computed from real records</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ectangle 5"/>
          <p:cNvSpPr/>
          <p:nvPr/>
        </p:nvSpPr>
        <p:spPr>
          <a:xfrm>
            <a:off x="502920" y="1463040"/>
            <a:ext cx="6583680" cy="4114800"/>
          </a:xfrm>
          <a:prstGeom prst="rect">
            <a:avLst/>
          </a:prstGeom>
          <a:solidFill>
            <a:srgbClr val="F4F7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E7C86"/>
                </a:solidFill>
              </a:rPr>
              <a:t>[ ADD SCREENSHOT — DASHBOARD ]</a:t>
            </a:r>
          </a:p>
        </p:txBody>
      </p:sp>
      <p:sp>
        <p:nvSpPr>
          <p:cNvPr id="7" name="TextBox 6"/>
          <p:cNvSpPr txBox="1"/>
          <p:nvPr/>
        </p:nvSpPr>
        <p:spPr>
          <a:xfrm>
            <a:off x="7406640" y="1508760"/>
            <a:ext cx="4297680" cy="411480"/>
          </a:xfrm>
          <a:prstGeom prst="rect">
            <a:avLst/>
          </a:prstGeom>
          <a:noFill/>
        </p:spPr>
        <p:txBody>
          <a:bodyPr wrap="square" anchor="t">
            <a:spAutoFit/>
          </a:bodyPr>
          <a:lstStyle/>
          <a:p>
            <a:pPr algn="l">
              <a:lnSpc>
                <a:spcPct val="115000"/>
              </a:lnSpc>
            </a:pPr>
            <a:r>
              <a:rPr sz="1600" b="1">
                <a:solidFill>
                  <a:srgbClr val="0E7C86"/>
                </a:solidFill>
                <a:latin typeface="Calibri"/>
              </a:rPr>
              <a:t>Where the numbers come from</a:t>
            </a:r>
          </a:p>
        </p:txBody>
      </p:sp>
      <p:sp>
        <p:nvSpPr>
          <p:cNvPr id="8" name="TextBox 7"/>
          <p:cNvSpPr txBox="1"/>
          <p:nvPr/>
        </p:nvSpPr>
        <p:spPr>
          <a:xfrm>
            <a:off x="7406640" y="2011680"/>
            <a:ext cx="4297680" cy="320040"/>
          </a:xfrm>
          <a:prstGeom prst="rect">
            <a:avLst/>
          </a:prstGeom>
          <a:noFill/>
        </p:spPr>
        <p:txBody>
          <a:bodyPr wrap="square" anchor="t">
            <a:spAutoFit/>
          </a:bodyPr>
          <a:lstStyle/>
          <a:p>
            <a:pPr algn="l">
              <a:lnSpc>
                <a:spcPct val="115000"/>
              </a:lnSpc>
            </a:pPr>
            <a:r>
              <a:rPr sz="1350" b="1">
                <a:solidFill>
                  <a:srgbClr val="0F172A"/>
                </a:solidFill>
                <a:latin typeface="Calibri"/>
              </a:rPr>
              <a:t>Calls handled</a:t>
            </a:r>
          </a:p>
        </p:txBody>
      </p:sp>
      <p:sp>
        <p:nvSpPr>
          <p:cNvPr id="9" name="TextBox 8"/>
          <p:cNvSpPr txBox="1"/>
          <p:nvPr/>
        </p:nvSpPr>
        <p:spPr>
          <a:xfrm>
            <a:off x="7406640" y="2304288"/>
            <a:ext cx="4297680" cy="320040"/>
          </a:xfrm>
          <a:prstGeom prst="rect">
            <a:avLst/>
          </a:prstGeom>
          <a:noFill/>
        </p:spPr>
        <p:txBody>
          <a:bodyPr wrap="square" anchor="t">
            <a:spAutoFit/>
          </a:bodyPr>
          <a:lstStyle/>
          <a:p>
            <a:pPr algn="l">
              <a:lnSpc>
                <a:spcPct val="115000"/>
              </a:lnSpc>
            </a:pPr>
            <a:r>
              <a:rPr sz="1200" b="0">
                <a:solidFill>
                  <a:srgbClr val="555F6D"/>
                </a:solidFill>
                <a:latin typeface="Consolas"/>
              </a:rPr>
              <a:t>count of call_logs today</a:t>
            </a:r>
          </a:p>
        </p:txBody>
      </p:sp>
      <p:sp>
        <p:nvSpPr>
          <p:cNvPr id="10" name="TextBox 9"/>
          <p:cNvSpPr txBox="1"/>
          <p:nvPr/>
        </p:nvSpPr>
        <p:spPr>
          <a:xfrm>
            <a:off x="7406640" y="2788920"/>
            <a:ext cx="4297680" cy="320040"/>
          </a:xfrm>
          <a:prstGeom prst="rect">
            <a:avLst/>
          </a:prstGeom>
          <a:noFill/>
        </p:spPr>
        <p:txBody>
          <a:bodyPr wrap="square" anchor="t">
            <a:spAutoFit/>
          </a:bodyPr>
          <a:lstStyle/>
          <a:p>
            <a:pPr algn="l">
              <a:lnSpc>
                <a:spcPct val="115000"/>
              </a:lnSpc>
            </a:pPr>
            <a:r>
              <a:rPr sz="1350" b="1">
                <a:solidFill>
                  <a:srgbClr val="0F172A"/>
                </a:solidFill>
                <a:latin typeface="Calibri"/>
              </a:rPr>
              <a:t>Appointments booked</a:t>
            </a:r>
          </a:p>
        </p:txBody>
      </p:sp>
      <p:sp>
        <p:nvSpPr>
          <p:cNvPr id="11" name="TextBox 10"/>
          <p:cNvSpPr txBox="1"/>
          <p:nvPr/>
        </p:nvSpPr>
        <p:spPr>
          <a:xfrm>
            <a:off x="7406640" y="3081528"/>
            <a:ext cx="4297680" cy="320040"/>
          </a:xfrm>
          <a:prstGeom prst="rect">
            <a:avLst/>
          </a:prstGeom>
          <a:noFill/>
        </p:spPr>
        <p:txBody>
          <a:bodyPr wrap="square" anchor="t">
            <a:spAutoFit/>
          </a:bodyPr>
          <a:lstStyle/>
          <a:p>
            <a:pPr algn="l">
              <a:lnSpc>
                <a:spcPct val="115000"/>
              </a:lnSpc>
            </a:pPr>
            <a:r>
              <a:rPr sz="1200" b="0">
                <a:solidFill>
                  <a:srgbClr val="555F6D"/>
                </a:solidFill>
                <a:latin typeface="Consolas"/>
              </a:rPr>
              <a:t>count of appointments today</a:t>
            </a:r>
          </a:p>
        </p:txBody>
      </p:sp>
      <p:sp>
        <p:nvSpPr>
          <p:cNvPr id="12" name="TextBox 11"/>
          <p:cNvSpPr txBox="1"/>
          <p:nvPr/>
        </p:nvSpPr>
        <p:spPr>
          <a:xfrm>
            <a:off x="7406640" y="3566160"/>
            <a:ext cx="4297680" cy="320040"/>
          </a:xfrm>
          <a:prstGeom prst="rect">
            <a:avLst/>
          </a:prstGeom>
          <a:noFill/>
        </p:spPr>
        <p:txBody>
          <a:bodyPr wrap="square" anchor="t">
            <a:spAutoFit/>
          </a:bodyPr>
          <a:lstStyle/>
          <a:p>
            <a:pPr algn="l">
              <a:lnSpc>
                <a:spcPct val="115000"/>
              </a:lnSpc>
            </a:pPr>
            <a:r>
              <a:rPr sz="1350" b="1">
                <a:solidFill>
                  <a:srgbClr val="0F172A"/>
                </a:solidFill>
                <a:latin typeface="Calibri"/>
              </a:rPr>
              <a:t>Resolved by AI</a:t>
            </a:r>
          </a:p>
        </p:txBody>
      </p:sp>
      <p:sp>
        <p:nvSpPr>
          <p:cNvPr id="13" name="TextBox 12"/>
          <p:cNvSpPr txBox="1"/>
          <p:nvPr/>
        </p:nvSpPr>
        <p:spPr>
          <a:xfrm>
            <a:off x="7406640" y="3858768"/>
            <a:ext cx="4297680" cy="320040"/>
          </a:xfrm>
          <a:prstGeom prst="rect">
            <a:avLst/>
          </a:prstGeom>
          <a:noFill/>
        </p:spPr>
        <p:txBody>
          <a:bodyPr wrap="square" anchor="t">
            <a:spAutoFit/>
          </a:bodyPr>
          <a:lstStyle/>
          <a:p>
            <a:pPr algn="l">
              <a:lnSpc>
                <a:spcPct val="115000"/>
              </a:lnSpc>
            </a:pPr>
            <a:r>
              <a:rPr sz="1200" b="0">
                <a:solidFill>
                  <a:srgbClr val="555F6D"/>
                </a:solidFill>
                <a:latin typeface="Consolas"/>
              </a:rPr>
              <a:t>excludes failed / no-answer</a:t>
            </a:r>
          </a:p>
        </p:txBody>
      </p:sp>
      <p:sp>
        <p:nvSpPr>
          <p:cNvPr id="14" name="TextBox 13"/>
          <p:cNvSpPr txBox="1"/>
          <p:nvPr/>
        </p:nvSpPr>
        <p:spPr>
          <a:xfrm>
            <a:off x="7406640" y="4343400"/>
            <a:ext cx="4297680" cy="320040"/>
          </a:xfrm>
          <a:prstGeom prst="rect">
            <a:avLst/>
          </a:prstGeom>
          <a:noFill/>
        </p:spPr>
        <p:txBody>
          <a:bodyPr wrap="square" anchor="t">
            <a:spAutoFit/>
          </a:bodyPr>
          <a:lstStyle/>
          <a:p>
            <a:pPr algn="l">
              <a:lnSpc>
                <a:spcPct val="115000"/>
              </a:lnSpc>
            </a:pPr>
            <a:r>
              <a:rPr sz="1350" b="1">
                <a:solidFill>
                  <a:srgbClr val="0F172A"/>
                </a:solidFill>
                <a:latin typeface="Calibri"/>
              </a:rPr>
              <a:t>Staff time saved</a:t>
            </a:r>
          </a:p>
        </p:txBody>
      </p:sp>
      <p:sp>
        <p:nvSpPr>
          <p:cNvPr id="15" name="TextBox 14"/>
          <p:cNvSpPr txBox="1"/>
          <p:nvPr/>
        </p:nvSpPr>
        <p:spPr>
          <a:xfrm>
            <a:off x="7406640" y="4636008"/>
            <a:ext cx="4297680" cy="320040"/>
          </a:xfrm>
          <a:prstGeom prst="rect">
            <a:avLst/>
          </a:prstGeom>
          <a:noFill/>
        </p:spPr>
        <p:txBody>
          <a:bodyPr wrap="square" anchor="t">
            <a:spAutoFit/>
          </a:bodyPr>
          <a:lstStyle/>
          <a:p>
            <a:pPr algn="l">
              <a:lnSpc>
                <a:spcPct val="115000"/>
              </a:lnSpc>
            </a:pPr>
            <a:r>
              <a:rPr sz="1200" b="0">
                <a:solidFill>
                  <a:srgbClr val="555F6D"/>
                </a:solidFill>
                <a:latin typeface="Consolas"/>
              </a:rPr>
              <a:t>from AI-handled minutes</a:t>
            </a:r>
          </a:p>
        </p:txBody>
      </p:sp>
      <p:sp>
        <p:nvSpPr>
          <p:cNvPr id="16" name="Rounded Rectangle 15"/>
          <p:cNvSpPr/>
          <p:nvPr/>
        </p:nvSpPr>
        <p:spPr>
          <a:xfrm>
            <a:off x="7406640" y="5212080"/>
            <a:ext cx="4297680" cy="6858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Live via WebSocket —</a:t>
            </a:r>
          </a:p>
          <a:p>
            <a:pPr algn="ctr"/>
            <a:r>
              <a:rPr sz="1300" b="1">
                <a:solidFill>
                  <a:srgbClr val="FFFFFF"/>
                </a:solidFill>
                <a:latin typeface="Calibri"/>
              </a:rPr>
              <a:t>no refresh needed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Patient Management</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Add · search · open · history</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554480"/>
            <a:ext cx="128016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Add</a:t>
            </a:r>
          </a:p>
        </p:txBody>
      </p:sp>
      <p:sp>
        <p:nvSpPr>
          <p:cNvPr id="7" name="Right Arrow 6"/>
          <p:cNvSpPr/>
          <p:nvPr/>
        </p:nvSpPr>
        <p:spPr>
          <a:xfrm>
            <a:off x="1828800" y="1810512"/>
            <a:ext cx="128016"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1965960" y="1554480"/>
            <a:ext cx="128016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Search</a:t>
            </a:r>
          </a:p>
        </p:txBody>
      </p:sp>
      <p:sp>
        <p:nvSpPr>
          <p:cNvPr id="9" name="Right Arrow 8"/>
          <p:cNvSpPr/>
          <p:nvPr/>
        </p:nvSpPr>
        <p:spPr>
          <a:xfrm>
            <a:off x="3291840" y="1810512"/>
            <a:ext cx="128016"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3429000" y="1554480"/>
            <a:ext cx="128016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View</a:t>
            </a:r>
          </a:p>
        </p:txBody>
      </p:sp>
      <p:sp>
        <p:nvSpPr>
          <p:cNvPr id="11" name="Right Arrow 10"/>
          <p:cNvSpPr/>
          <p:nvPr/>
        </p:nvSpPr>
        <p:spPr>
          <a:xfrm>
            <a:off x="4754880" y="1810512"/>
            <a:ext cx="128016"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4892040" y="1554480"/>
            <a:ext cx="128016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Update</a:t>
            </a:r>
          </a:p>
        </p:txBody>
      </p:sp>
      <p:sp>
        <p:nvSpPr>
          <p:cNvPr id="13" name="Right Arrow 12"/>
          <p:cNvSpPr/>
          <p:nvPr/>
        </p:nvSpPr>
        <p:spPr>
          <a:xfrm>
            <a:off x="6217920" y="1810512"/>
            <a:ext cx="128016"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6355080" y="1554480"/>
            <a:ext cx="1280160" cy="73152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History</a:t>
            </a:r>
          </a:p>
        </p:txBody>
      </p:sp>
      <p:sp>
        <p:nvSpPr>
          <p:cNvPr id="15" name="Rectangle 14"/>
          <p:cNvSpPr/>
          <p:nvPr/>
        </p:nvSpPr>
        <p:spPr>
          <a:xfrm>
            <a:off x="502920" y="2606040"/>
            <a:ext cx="6035040" cy="3108960"/>
          </a:xfrm>
          <a:prstGeom prst="rect">
            <a:avLst/>
          </a:prstGeom>
          <a:solidFill>
            <a:srgbClr val="F4F7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E7C86"/>
                </a:solidFill>
              </a:rPr>
              <a:t>[ ADD SCREENSHOT — PATIENTS PAGE ]</a:t>
            </a:r>
          </a:p>
        </p:txBody>
      </p:sp>
      <p:sp>
        <p:nvSpPr>
          <p:cNvPr id="16" name="TextBox 15"/>
          <p:cNvSpPr txBox="1"/>
          <p:nvPr/>
        </p:nvSpPr>
        <p:spPr>
          <a:xfrm>
            <a:off x="6858000" y="2606040"/>
            <a:ext cx="4846320" cy="411480"/>
          </a:xfrm>
          <a:prstGeom prst="rect">
            <a:avLst/>
          </a:prstGeom>
          <a:noFill/>
        </p:spPr>
        <p:txBody>
          <a:bodyPr wrap="square" anchor="t">
            <a:spAutoFit/>
          </a:bodyPr>
          <a:lstStyle/>
          <a:p>
            <a:pPr algn="l">
              <a:lnSpc>
                <a:spcPct val="115000"/>
              </a:lnSpc>
            </a:pPr>
            <a:r>
              <a:rPr sz="1600" b="1">
                <a:solidFill>
                  <a:srgbClr val="0E7C86"/>
                </a:solidFill>
                <a:latin typeface="Calibri"/>
              </a:rPr>
              <a:t>Two rules worth showing</a:t>
            </a:r>
          </a:p>
        </p:txBody>
      </p:sp>
      <p:sp>
        <p:nvSpPr>
          <p:cNvPr id="17" name="TextBox 16"/>
          <p:cNvSpPr txBox="1"/>
          <p:nvPr/>
        </p:nvSpPr>
        <p:spPr>
          <a:xfrm>
            <a:off x="6858000" y="3108960"/>
            <a:ext cx="4846320" cy="1188720"/>
          </a:xfrm>
          <a:prstGeom prst="rect">
            <a:avLst/>
          </a:prstGeom>
          <a:noFill/>
        </p:spPr>
        <p:txBody>
          <a:bodyPr wrap="square" anchor="t">
            <a:spAutoFit/>
          </a:bodyPr>
          <a:lstStyle/>
          <a:p>
            <a:pPr algn="l">
              <a:lnSpc>
                <a:spcPct val="115000"/>
              </a:lnSpc>
            </a:pPr>
            <a:r>
              <a:rPr sz="1300" b="0">
                <a:solidFill>
                  <a:srgbClr val="0F172A"/>
                </a:solidFill>
                <a:latin typeface="Calibri"/>
              </a:rPr>
              <a:t>Phone search matches the LAST TEN DIGITS — so a number saved as 8688460308 still matches a call arriving as +918688460308.</a:t>
            </a:r>
          </a:p>
        </p:txBody>
      </p:sp>
      <p:sp>
        <p:nvSpPr>
          <p:cNvPr id="18" name="TextBox 17"/>
          <p:cNvSpPr txBox="1"/>
          <p:nvPr/>
        </p:nvSpPr>
        <p:spPr>
          <a:xfrm>
            <a:off x="6858000" y="4389120"/>
            <a:ext cx="4846320" cy="1280160"/>
          </a:xfrm>
          <a:prstGeom prst="rect">
            <a:avLst/>
          </a:prstGeom>
          <a:noFill/>
        </p:spPr>
        <p:txBody>
          <a:bodyPr wrap="square" anchor="t">
            <a:spAutoFit/>
          </a:bodyPr>
          <a:lstStyle/>
          <a:p>
            <a:pPr algn="l">
              <a:lnSpc>
                <a:spcPct val="115000"/>
              </a:lnSpc>
            </a:pPr>
            <a:r>
              <a:rPr sz="1300" b="0">
                <a:solidFill>
                  <a:srgbClr val="0F172A"/>
                </a:solidFill>
                <a:latin typeface="Calibri"/>
              </a:rPr>
              <a:t>Registering someone who already exists is blocked. Staff get a message naming the existing record; the AI is handed that record instead, so a caller is never stranded mid-call.</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Appointment Management</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One validation rule, three callers</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55448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Choose patient</a:t>
            </a:r>
          </a:p>
        </p:txBody>
      </p:sp>
      <p:sp>
        <p:nvSpPr>
          <p:cNvPr id="7" name="Right Arrow 6"/>
          <p:cNvSpPr/>
          <p:nvPr/>
        </p:nvSpPr>
        <p:spPr>
          <a:xfrm>
            <a:off x="2606039" y="18562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34639" y="155448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Choose date</a:t>
            </a:r>
          </a:p>
          <a:p>
            <a:pPr algn="ctr"/>
            <a:r>
              <a:rPr sz="1250" b="0">
                <a:solidFill>
                  <a:srgbClr val="0F172A"/>
                </a:solidFill>
                <a:latin typeface="Calibri"/>
              </a:rPr>
              <a:t>&amp; time</a:t>
            </a:r>
          </a:p>
        </p:txBody>
      </p:sp>
      <p:sp>
        <p:nvSpPr>
          <p:cNvPr id="9" name="Right Arrow 8"/>
          <p:cNvSpPr/>
          <p:nvPr/>
        </p:nvSpPr>
        <p:spPr>
          <a:xfrm>
            <a:off x="4937759" y="18562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66359" y="1554480"/>
            <a:ext cx="2057400" cy="8686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FFFFFF"/>
                </a:solidFill>
                <a:latin typeface="Calibri"/>
              </a:rPr>
              <a:t>Validate slot</a:t>
            </a:r>
          </a:p>
        </p:txBody>
      </p:sp>
      <p:sp>
        <p:nvSpPr>
          <p:cNvPr id="11" name="Right Arrow 10"/>
          <p:cNvSpPr/>
          <p:nvPr/>
        </p:nvSpPr>
        <p:spPr>
          <a:xfrm>
            <a:off x="7269479" y="18562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98079" y="155448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Book</a:t>
            </a:r>
          </a:p>
        </p:txBody>
      </p:sp>
      <p:sp>
        <p:nvSpPr>
          <p:cNvPr id="13" name="Right Arrow 12"/>
          <p:cNvSpPr/>
          <p:nvPr/>
        </p:nvSpPr>
        <p:spPr>
          <a:xfrm>
            <a:off x="9601200" y="18562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829800" y="1554480"/>
            <a:ext cx="20574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Confirm</a:t>
            </a:r>
          </a:p>
        </p:txBody>
      </p:sp>
      <p:sp>
        <p:nvSpPr>
          <p:cNvPr id="15" name="Rounded Rectangle 14"/>
          <p:cNvSpPr/>
          <p:nvPr/>
        </p:nvSpPr>
        <p:spPr>
          <a:xfrm>
            <a:off x="502920" y="2788920"/>
            <a:ext cx="11155680" cy="86868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0F172A"/>
                </a:solidFill>
                <a:latin typeface="Calibri"/>
              </a:rPr>
              <a:t>_validate_slot() is the single definition of a bookable slot — shared by staff, the AI and the patient self-service link</a:t>
            </a:r>
          </a:p>
        </p:txBody>
      </p:sp>
      <p:sp>
        <p:nvSpPr>
          <p:cNvPr id="16" name="Rounded Rectangle 15"/>
          <p:cNvSpPr/>
          <p:nvPr/>
        </p:nvSpPr>
        <p:spPr>
          <a:xfrm>
            <a:off x="502920" y="3886200"/>
            <a:ext cx="5486400" cy="96012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7" name="TextBox 16"/>
          <p:cNvSpPr txBox="1"/>
          <p:nvPr/>
        </p:nvSpPr>
        <p:spPr>
          <a:xfrm>
            <a:off x="777240" y="4005072"/>
            <a:ext cx="4937760" cy="320040"/>
          </a:xfrm>
          <a:prstGeom prst="rect">
            <a:avLst/>
          </a:prstGeom>
          <a:noFill/>
        </p:spPr>
        <p:txBody>
          <a:bodyPr wrap="square" anchor="t">
            <a:spAutoFit/>
          </a:bodyPr>
          <a:lstStyle/>
          <a:p>
            <a:pPr algn="l">
              <a:lnSpc>
                <a:spcPct val="115000"/>
              </a:lnSpc>
            </a:pPr>
            <a:r>
              <a:rPr sz="1400" b="1">
                <a:solidFill>
                  <a:srgbClr val="0E7C86"/>
                </a:solidFill>
                <a:latin typeface="Calibri"/>
              </a:rPr>
              <a:t>Reschedule</a:t>
            </a:r>
          </a:p>
        </p:txBody>
      </p:sp>
      <p:sp>
        <p:nvSpPr>
          <p:cNvPr id="18" name="TextBox 17"/>
          <p:cNvSpPr txBox="1"/>
          <p:nvPr/>
        </p:nvSpPr>
        <p:spPr>
          <a:xfrm>
            <a:off x="777240" y="4343400"/>
            <a:ext cx="4937760" cy="457200"/>
          </a:xfrm>
          <a:prstGeom prst="rect">
            <a:avLst/>
          </a:prstGeom>
          <a:noFill/>
        </p:spPr>
        <p:txBody>
          <a:bodyPr wrap="square" anchor="t">
            <a:spAutoFit/>
          </a:bodyPr>
          <a:lstStyle/>
          <a:p>
            <a:pPr algn="l">
              <a:lnSpc>
                <a:spcPct val="115000"/>
              </a:lnSpc>
            </a:pPr>
            <a:r>
              <a:rPr sz="1200" b="0">
                <a:solidFill>
                  <a:srgbClr val="555F6D"/>
                </a:solidFill>
                <a:latin typeface="Calibri"/>
              </a:rPr>
              <a:t>Re-validated against the new time. The old confirmation is cleared.</a:t>
            </a:r>
          </a:p>
        </p:txBody>
      </p:sp>
      <p:sp>
        <p:nvSpPr>
          <p:cNvPr id="19" name="Rounded Rectangle 18"/>
          <p:cNvSpPr/>
          <p:nvPr/>
        </p:nvSpPr>
        <p:spPr>
          <a:xfrm>
            <a:off x="502920" y="4937760"/>
            <a:ext cx="5486400" cy="96012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0" name="TextBox 19"/>
          <p:cNvSpPr txBox="1"/>
          <p:nvPr/>
        </p:nvSpPr>
        <p:spPr>
          <a:xfrm>
            <a:off x="777240" y="5056632"/>
            <a:ext cx="4937760" cy="320040"/>
          </a:xfrm>
          <a:prstGeom prst="rect">
            <a:avLst/>
          </a:prstGeom>
          <a:noFill/>
        </p:spPr>
        <p:txBody>
          <a:bodyPr wrap="square" anchor="t">
            <a:spAutoFit/>
          </a:bodyPr>
          <a:lstStyle/>
          <a:p>
            <a:pPr algn="l">
              <a:lnSpc>
                <a:spcPct val="115000"/>
              </a:lnSpc>
            </a:pPr>
            <a:r>
              <a:rPr sz="1400" b="1">
                <a:solidFill>
                  <a:srgbClr val="0E7C86"/>
                </a:solidFill>
                <a:latin typeface="Calibri"/>
              </a:rPr>
              <a:t>Cancel</a:t>
            </a:r>
          </a:p>
        </p:txBody>
      </p:sp>
      <p:sp>
        <p:nvSpPr>
          <p:cNvPr id="21" name="TextBox 20"/>
          <p:cNvSpPr txBox="1"/>
          <p:nvPr/>
        </p:nvSpPr>
        <p:spPr>
          <a:xfrm>
            <a:off x="777240" y="5394960"/>
            <a:ext cx="4937760" cy="457200"/>
          </a:xfrm>
          <a:prstGeom prst="rect">
            <a:avLst/>
          </a:prstGeom>
          <a:noFill/>
        </p:spPr>
        <p:txBody>
          <a:bodyPr wrap="square" anchor="t">
            <a:spAutoFit/>
          </a:bodyPr>
          <a:lstStyle/>
          <a:p>
            <a:pPr algn="l">
              <a:lnSpc>
                <a:spcPct val="115000"/>
              </a:lnSpc>
            </a:pPr>
            <a:r>
              <a:rPr sz="1200" b="0">
                <a:solidFill>
                  <a:srgbClr val="555F6D"/>
                </a:solidFill>
                <a:latin typeface="Calibri"/>
              </a:rPr>
              <a:t>The slot is released; a waiting-list sweep can offer it to the next patient.</a:t>
            </a:r>
          </a:p>
        </p:txBody>
      </p:sp>
      <p:sp>
        <p:nvSpPr>
          <p:cNvPr id="22" name="Rectangle 21"/>
          <p:cNvSpPr/>
          <p:nvPr/>
        </p:nvSpPr>
        <p:spPr>
          <a:xfrm>
            <a:off x="6400800" y="3886200"/>
            <a:ext cx="5257800" cy="2011680"/>
          </a:xfrm>
          <a:prstGeom prst="rect">
            <a:avLst/>
          </a:prstGeom>
          <a:solidFill>
            <a:srgbClr val="F4F7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E7C86"/>
                </a:solidFill>
              </a:rPr>
              <a:t>[ ADD SCREENSHOT — APPOINTMENTS PAGE ]</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Voice AI Architecture</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Verified from the code — no SIP trunk on this path</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600200"/>
            <a:ext cx="2514600" cy="86868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Patient</a:t>
            </a:r>
          </a:p>
        </p:txBody>
      </p:sp>
      <p:sp>
        <p:nvSpPr>
          <p:cNvPr id="7" name="Right Arrow 6"/>
          <p:cNvSpPr/>
          <p:nvPr/>
        </p:nvSpPr>
        <p:spPr>
          <a:xfrm>
            <a:off x="3063239" y="1901952"/>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29000" y="1600200"/>
            <a:ext cx="25146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Twilio</a:t>
            </a:r>
          </a:p>
          <a:p>
            <a:pPr algn="ctr"/>
            <a:r>
              <a:rPr sz="1300" b="0">
                <a:solidFill>
                  <a:srgbClr val="0F172A"/>
                </a:solidFill>
                <a:latin typeface="Calibri"/>
              </a:rPr>
              <a:t>PSTN</a:t>
            </a:r>
          </a:p>
        </p:txBody>
      </p:sp>
      <p:sp>
        <p:nvSpPr>
          <p:cNvPr id="9" name="Right Arrow 8"/>
          <p:cNvSpPr/>
          <p:nvPr/>
        </p:nvSpPr>
        <p:spPr>
          <a:xfrm>
            <a:off x="5989320" y="1901952"/>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55080" y="1600200"/>
            <a:ext cx="25146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Voice Gateway</a:t>
            </a:r>
          </a:p>
          <a:p>
            <a:pPr algn="ctr"/>
            <a:r>
              <a:rPr sz="1300" b="0">
                <a:solidFill>
                  <a:srgbClr val="0F172A"/>
                </a:solidFill>
                <a:latin typeface="Calibri"/>
              </a:rPr>
              <a:t>Media Stream</a:t>
            </a:r>
          </a:p>
        </p:txBody>
      </p:sp>
      <p:sp>
        <p:nvSpPr>
          <p:cNvPr id="11" name="Right Arrow 10"/>
          <p:cNvSpPr/>
          <p:nvPr/>
        </p:nvSpPr>
        <p:spPr>
          <a:xfrm>
            <a:off x="8915400" y="1901952"/>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281160" y="1600200"/>
            <a:ext cx="25146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Deepgram</a:t>
            </a:r>
          </a:p>
          <a:p>
            <a:pPr algn="ctr"/>
            <a:r>
              <a:rPr sz="1300" b="0">
                <a:solidFill>
                  <a:srgbClr val="0F172A"/>
                </a:solidFill>
                <a:latin typeface="Calibri"/>
              </a:rPr>
              <a:t>STT</a:t>
            </a:r>
          </a:p>
        </p:txBody>
      </p:sp>
      <p:sp>
        <p:nvSpPr>
          <p:cNvPr id="13" name="Rounded Rectangle 12"/>
          <p:cNvSpPr/>
          <p:nvPr/>
        </p:nvSpPr>
        <p:spPr>
          <a:xfrm>
            <a:off x="502920" y="3063240"/>
            <a:ext cx="25146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Groq LLM</a:t>
            </a:r>
          </a:p>
          <a:p>
            <a:pPr algn="ctr"/>
            <a:r>
              <a:rPr sz="1300" b="0">
                <a:solidFill>
                  <a:srgbClr val="0F172A"/>
                </a:solidFill>
                <a:latin typeface="Calibri"/>
              </a:rPr>
              <a:t>chooses a tool</a:t>
            </a:r>
          </a:p>
        </p:txBody>
      </p:sp>
      <p:sp>
        <p:nvSpPr>
          <p:cNvPr id="14" name="Right Arrow 13"/>
          <p:cNvSpPr/>
          <p:nvPr/>
        </p:nvSpPr>
        <p:spPr>
          <a:xfrm>
            <a:off x="3063239" y="3364992"/>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29000" y="3063240"/>
            <a:ext cx="2514600" cy="86868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FFFFFF"/>
                </a:solidFill>
                <a:latin typeface="Calibri"/>
              </a:rPr>
              <a:t>Backend API</a:t>
            </a:r>
          </a:p>
          <a:p>
            <a:pPr algn="ctr"/>
            <a:r>
              <a:rPr sz="1300" b="0">
                <a:solidFill>
                  <a:srgbClr val="FFFFFF"/>
                </a:solidFill>
                <a:latin typeface="Calibri"/>
              </a:rPr>
              <a:t>+ SQL Server</a:t>
            </a:r>
          </a:p>
        </p:txBody>
      </p:sp>
      <p:sp>
        <p:nvSpPr>
          <p:cNvPr id="16" name="Right Arrow 15"/>
          <p:cNvSpPr/>
          <p:nvPr/>
        </p:nvSpPr>
        <p:spPr>
          <a:xfrm>
            <a:off x="5989320" y="3364992"/>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5080" y="3063240"/>
            <a:ext cx="2514600" cy="86868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Sarvam TTS</a:t>
            </a:r>
          </a:p>
          <a:p>
            <a:pPr algn="ctr"/>
            <a:r>
              <a:rPr sz="1300" b="0">
                <a:solidFill>
                  <a:srgbClr val="0F172A"/>
                </a:solidFill>
                <a:latin typeface="Calibri"/>
              </a:rPr>
              <a:t>Indian English</a:t>
            </a:r>
          </a:p>
        </p:txBody>
      </p:sp>
      <p:sp>
        <p:nvSpPr>
          <p:cNvPr id="18" name="Right Arrow 17"/>
          <p:cNvSpPr/>
          <p:nvPr/>
        </p:nvSpPr>
        <p:spPr>
          <a:xfrm>
            <a:off x="8915400" y="3364992"/>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281160" y="3063240"/>
            <a:ext cx="2514600" cy="86868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0F172A"/>
                </a:solidFill>
                <a:latin typeface="Calibri"/>
              </a:rPr>
              <a:t>Patient hears</a:t>
            </a:r>
          </a:p>
          <a:p>
            <a:pPr algn="ctr"/>
            <a:r>
              <a:rPr sz="1300" b="1">
                <a:solidFill>
                  <a:srgbClr val="0F172A"/>
                </a:solidFill>
                <a:latin typeface="Calibri"/>
              </a:rPr>
              <a:t>the reply</a:t>
            </a:r>
          </a:p>
        </p:txBody>
      </p:sp>
      <p:sp>
        <p:nvSpPr>
          <p:cNvPr id="20" name="Rounded Rectangle 19"/>
          <p:cNvSpPr/>
          <p:nvPr/>
        </p:nvSpPr>
        <p:spPr>
          <a:xfrm>
            <a:off x="502920" y="4526280"/>
            <a:ext cx="11155680" cy="141732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16 tools available to the agent — find_patient · check_available_slots · book_appointment · reschedule · cancel · answer_question · request_refill · transfer_to_human · end_call and more</a:t>
            </a:r>
          </a:p>
          <a:p>
            <a:pPr algn="ctr"/>
            <a:endParaRPr sz="1300" b="0">
              <a:solidFill>
                <a:srgbClr val="0F172A"/>
              </a:solidFill>
              <a:latin typeface="Calibri"/>
            </a:endParaRPr>
          </a:p>
          <a:p>
            <a:pPr algn="ctr"/>
            <a:r>
              <a:rPr sz="1300" b="0">
                <a:solidFill>
                  <a:srgbClr val="0F172A"/>
                </a:solidFill>
                <a:latin typeface="Calibri"/>
              </a:rPr>
              <a:t>Audio crosses the whole pipeline without a resample: 8 kHz mu-law throughout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AI Appointment Booking</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A real conversation, step by step</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463040"/>
            <a:ext cx="11155680" cy="493776"/>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Patient: "I'd like to book an appointment for tomorrow morning."</a:t>
            </a:r>
          </a:p>
        </p:txBody>
      </p:sp>
      <p:sp>
        <p:nvSpPr>
          <p:cNvPr id="7" name="Rounded Rectangle 6"/>
          <p:cNvSpPr/>
          <p:nvPr/>
        </p:nvSpPr>
        <p:spPr>
          <a:xfrm>
            <a:off x="502920" y="2039112"/>
            <a:ext cx="11155680" cy="493776"/>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1">
                <a:solidFill>
                  <a:srgbClr val="0E7C86"/>
                </a:solidFill>
                <a:latin typeface="Calibri"/>
              </a:rPr>
              <a:t>find_patient  →  GET /patients?search=+9186884...  →  one match: Krishna</a:t>
            </a:r>
          </a:p>
        </p:txBody>
      </p:sp>
      <p:sp>
        <p:nvSpPr>
          <p:cNvPr id="8" name="Rounded Rectangle 7"/>
          <p:cNvSpPr/>
          <p:nvPr/>
        </p:nvSpPr>
        <p:spPr>
          <a:xfrm>
            <a:off x="502920" y="2615184"/>
            <a:ext cx="11155680" cy="493776"/>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Agent: "Am I speaking with Krishna?"          [first name only]</a:t>
            </a:r>
          </a:p>
        </p:txBody>
      </p:sp>
      <p:sp>
        <p:nvSpPr>
          <p:cNvPr id="9" name="Rounded Rectangle 8"/>
          <p:cNvSpPr/>
          <p:nvPr/>
        </p:nvSpPr>
        <p:spPr>
          <a:xfrm>
            <a:off x="502920" y="3191256"/>
            <a:ext cx="11155680" cy="493776"/>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1">
                <a:solidFill>
                  <a:srgbClr val="0E7C86"/>
                </a:solidFill>
                <a:latin typeface="Calibri"/>
              </a:rPr>
              <a:t>check_available_slots  →  GET /appointments/availability</a:t>
            </a:r>
          </a:p>
        </p:txBody>
      </p:sp>
      <p:sp>
        <p:nvSpPr>
          <p:cNvPr id="10" name="Rounded Rectangle 9"/>
          <p:cNvSpPr/>
          <p:nvPr/>
        </p:nvSpPr>
        <p:spPr>
          <a:xfrm>
            <a:off x="502920" y="3767328"/>
            <a:ext cx="11155680" cy="493776"/>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Agent: "I have 9:30, 10:15 or 11 o'clock."</a:t>
            </a:r>
          </a:p>
        </p:txBody>
      </p:sp>
      <p:sp>
        <p:nvSpPr>
          <p:cNvPr id="11" name="Rounded Rectangle 10"/>
          <p:cNvSpPr/>
          <p:nvPr/>
        </p:nvSpPr>
        <p:spPr>
          <a:xfrm>
            <a:off x="502920" y="4343400"/>
            <a:ext cx="11155680" cy="493776"/>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Patient: "10:15 please."</a:t>
            </a:r>
          </a:p>
        </p:txBody>
      </p:sp>
      <p:sp>
        <p:nvSpPr>
          <p:cNvPr id="12" name="Rounded Rectangle 11"/>
          <p:cNvSpPr/>
          <p:nvPr/>
        </p:nvSpPr>
        <p:spPr>
          <a:xfrm>
            <a:off x="502920" y="4919472"/>
            <a:ext cx="11155680" cy="493776"/>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1">
                <a:solidFill>
                  <a:srgbClr val="0E7C86"/>
                </a:solidFill>
                <a:latin typeface="Calibri"/>
              </a:rPr>
              <a:t>book_appointment  →  POST /appointments/book  →  _validate_slot  →  INSERT</a:t>
            </a:r>
          </a:p>
        </p:txBody>
      </p:sp>
      <p:sp>
        <p:nvSpPr>
          <p:cNvPr id="13" name="Rounded Rectangle 12"/>
          <p:cNvSpPr/>
          <p:nvPr/>
        </p:nvSpPr>
        <p:spPr>
          <a:xfrm>
            <a:off x="502920" y="5495544"/>
            <a:ext cx="11155680" cy="493776"/>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Agent: "Booked for 10:15 tomorrow."   +  dashboard updates live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EHR Integration</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A gateway you point at your own system</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645920"/>
            <a:ext cx="2377440" cy="82296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Clinic staff</a:t>
            </a:r>
          </a:p>
          <a:p>
            <a:pPr algn="ctr"/>
            <a:r>
              <a:rPr sz="1300" b="0">
                <a:solidFill>
                  <a:srgbClr val="0F172A"/>
                </a:solidFill>
                <a:latin typeface="Calibri"/>
              </a:rPr>
              <a:t>or voice agent</a:t>
            </a:r>
          </a:p>
        </p:txBody>
      </p:sp>
      <p:sp>
        <p:nvSpPr>
          <p:cNvPr id="7" name="Right Arrow 6"/>
          <p:cNvSpPr/>
          <p:nvPr/>
        </p:nvSpPr>
        <p:spPr>
          <a:xfrm>
            <a:off x="2971800" y="1947672"/>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74720" y="1645920"/>
            <a:ext cx="2377440" cy="82296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1">
                <a:solidFill>
                  <a:srgbClr val="FFFFFF"/>
                </a:solidFill>
                <a:latin typeface="Calibri"/>
              </a:rPr>
              <a:t>Backend</a:t>
            </a:r>
          </a:p>
          <a:p>
            <a:pPr algn="ctr"/>
            <a:r>
              <a:rPr sz="1300" b="1">
                <a:solidFill>
                  <a:srgbClr val="FFFFFF"/>
                </a:solidFill>
                <a:latin typeface="Calibri"/>
              </a:rPr>
              <a:t>ehr_service</a:t>
            </a:r>
          </a:p>
        </p:txBody>
      </p:sp>
      <p:sp>
        <p:nvSpPr>
          <p:cNvPr id="9" name="Right Arrow 8"/>
          <p:cNvSpPr/>
          <p:nvPr/>
        </p:nvSpPr>
        <p:spPr>
          <a:xfrm>
            <a:off x="5943600" y="1947672"/>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446520" y="1645920"/>
            <a:ext cx="2651760" cy="8229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Your FHIR / REST</a:t>
            </a:r>
          </a:p>
          <a:p>
            <a:pPr algn="ctr"/>
            <a:r>
              <a:rPr sz="1300" b="0">
                <a:solidFill>
                  <a:srgbClr val="0F172A"/>
                </a:solidFill>
                <a:latin typeface="Calibri"/>
              </a:rPr>
              <a:t>gateway</a:t>
            </a:r>
          </a:p>
        </p:txBody>
      </p:sp>
      <p:sp>
        <p:nvSpPr>
          <p:cNvPr id="11" name="Right Arrow 10"/>
          <p:cNvSpPr/>
          <p:nvPr/>
        </p:nvSpPr>
        <p:spPr>
          <a:xfrm>
            <a:off x="9189720" y="1947672"/>
            <a:ext cx="384048" cy="237744"/>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692640" y="1645920"/>
            <a:ext cx="2011680" cy="82296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Your EHR</a:t>
            </a:r>
          </a:p>
        </p:txBody>
      </p:sp>
      <p:sp>
        <p:nvSpPr>
          <p:cNvPr id="13" name="TextBox 12"/>
          <p:cNvSpPr txBox="1"/>
          <p:nvPr/>
        </p:nvSpPr>
        <p:spPr>
          <a:xfrm>
            <a:off x="502920" y="2880360"/>
            <a:ext cx="11155680" cy="411480"/>
          </a:xfrm>
          <a:prstGeom prst="rect">
            <a:avLst/>
          </a:prstGeom>
          <a:noFill/>
        </p:spPr>
        <p:txBody>
          <a:bodyPr wrap="square" anchor="t">
            <a:spAutoFit/>
          </a:bodyPr>
          <a:lstStyle/>
          <a:p>
            <a:pPr algn="l">
              <a:lnSpc>
                <a:spcPct val="115000"/>
              </a:lnSpc>
            </a:pPr>
            <a:r>
              <a:rPr sz="1400" b="1">
                <a:solidFill>
                  <a:srgbClr val="0E7C86"/>
                </a:solidFill>
                <a:latin typeface="Calibri"/>
              </a:rPr>
              <a:t>Synced outward: MRN · name · date of birth · phone · status</a:t>
            </a:r>
          </a:p>
        </p:txBody>
      </p:sp>
      <p:sp>
        <p:nvSpPr>
          <p:cNvPr id="14" name="Rounded Rectangle 13"/>
          <p:cNvSpPr/>
          <p:nvPr/>
        </p:nvSpPr>
        <p:spPr>
          <a:xfrm>
            <a:off x="502920" y="3383280"/>
            <a:ext cx="5486400" cy="77724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5" name="TextBox 14"/>
          <p:cNvSpPr txBox="1"/>
          <p:nvPr/>
        </p:nvSpPr>
        <p:spPr>
          <a:xfrm>
            <a:off x="777240" y="3456432"/>
            <a:ext cx="4937760" cy="301752"/>
          </a:xfrm>
          <a:prstGeom prst="rect">
            <a:avLst/>
          </a:prstGeom>
          <a:noFill/>
        </p:spPr>
        <p:txBody>
          <a:bodyPr wrap="square" anchor="t">
            <a:spAutoFit/>
          </a:bodyPr>
          <a:lstStyle/>
          <a:p>
            <a:pPr algn="l">
              <a:lnSpc>
                <a:spcPct val="115000"/>
              </a:lnSpc>
            </a:pPr>
            <a:r>
              <a:rPr sz="1350" b="1">
                <a:solidFill>
                  <a:srgbClr val="0E7C86"/>
                </a:solidFill>
                <a:latin typeface="Calibri"/>
              </a:rPr>
              <a:t>No vendor lock-in</a:t>
            </a:r>
          </a:p>
        </p:txBody>
      </p:sp>
      <p:sp>
        <p:nvSpPr>
          <p:cNvPr id="16" name="TextBox 15"/>
          <p:cNvSpPr txBox="1"/>
          <p:nvPr/>
        </p:nvSpPr>
        <p:spPr>
          <a:xfrm>
            <a:off x="777240" y="3767328"/>
            <a:ext cx="4937760" cy="365760"/>
          </a:xfrm>
          <a:prstGeom prst="rect">
            <a:avLst/>
          </a:prstGeom>
          <a:noFill/>
        </p:spPr>
        <p:txBody>
          <a:bodyPr wrap="square" anchor="t">
            <a:spAutoFit/>
          </a:bodyPr>
          <a:lstStyle/>
          <a:p>
            <a:pPr algn="l">
              <a:lnSpc>
                <a:spcPct val="115000"/>
              </a:lnSpc>
            </a:pPr>
            <a:r>
              <a:rPr sz="1150" b="0">
                <a:solidFill>
                  <a:srgbClr val="555F6D"/>
                </a:solidFill>
                <a:latin typeface="Calibri"/>
              </a:rPr>
              <a:t>We ship no vendor-specific connectors. You give us an endpoint and a key.</a:t>
            </a:r>
          </a:p>
        </p:txBody>
      </p:sp>
      <p:sp>
        <p:nvSpPr>
          <p:cNvPr id="17" name="Rounded Rectangle 16"/>
          <p:cNvSpPr/>
          <p:nvPr/>
        </p:nvSpPr>
        <p:spPr>
          <a:xfrm>
            <a:off x="502920" y="4224528"/>
            <a:ext cx="5486400" cy="77724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8" name="TextBox 17"/>
          <p:cNvSpPr txBox="1"/>
          <p:nvPr/>
        </p:nvSpPr>
        <p:spPr>
          <a:xfrm>
            <a:off x="777240" y="4297680"/>
            <a:ext cx="4937760" cy="301752"/>
          </a:xfrm>
          <a:prstGeom prst="rect">
            <a:avLst/>
          </a:prstGeom>
          <a:noFill/>
        </p:spPr>
        <p:txBody>
          <a:bodyPr wrap="square" anchor="t">
            <a:spAutoFit/>
          </a:bodyPr>
          <a:lstStyle/>
          <a:p>
            <a:pPr algn="l">
              <a:lnSpc>
                <a:spcPct val="115000"/>
              </a:lnSpc>
            </a:pPr>
            <a:r>
              <a:rPr sz="1350" b="1">
                <a:solidFill>
                  <a:srgbClr val="0E7C86"/>
                </a:solidFill>
                <a:latin typeface="Calibri"/>
              </a:rPr>
              <a:t>Works without one</a:t>
            </a:r>
          </a:p>
        </p:txBody>
      </p:sp>
      <p:sp>
        <p:nvSpPr>
          <p:cNvPr id="19" name="TextBox 18"/>
          <p:cNvSpPr txBox="1"/>
          <p:nvPr/>
        </p:nvSpPr>
        <p:spPr>
          <a:xfrm>
            <a:off x="777240" y="4608576"/>
            <a:ext cx="4937760" cy="365760"/>
          </a:xfrm>
          <a:prstGeom prst="rect">
            <a:avLst/>
          </a:prstGeom>
          <a:noFill/>
        </p:spPr>
        <p:txBody>
          <a:bodyPr wrap="square" anchor="t">
            <a:spAutoFit/>
          </a:bodyPr>
          <a:lstStyle/>
          <a:p>
            <a:pPr algn="l">
              <a:lnSpc>
                <a:spcPct val="115000"/>
              </a:lnSpc>
            </a:pPr>
            <a:r>
              <a:rPr sz="1150" b="0">
                <a:solidFill>
                  <a:srgbClr val="555F6D"/>
                </a:solidFill>
                <a:latin typeface="Calibri"/>
              </a:rPr>
              <a:t>With nothing connected the clinic runs local-only — this database is the system of record and nothing degrades.</a:t>
            </a:r>
          </a:p>
        </p:txBody>
      </p:sp>
      <p:sp>
        <p:nvSpPr>
          <p:cNvPr id="20" name="Rounded Rectangle 19"/>
          <p:cNvSpPr/>
          <p:nvPr/>
        </p:nvSpPr>
        <p:spPr>
          <a:xfrm>
            <a:off x="502920" y="5065776"/>
            <a:ext cx="5486400" cy="77724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1" name="TextBox 20"/>
          <p:cNvSpPr txBox="1"/>
          <p:nvPr/>
        </p:nvSpPr>
        <p:spPr>
          <a:xfrm>
            <a:off x="777240" y="5138928"/>
            <a:ext cx="4937760" cy="301752"/>
          </a:xfrm>
          <a:prstGeom prst="rect">
            <a:avLst/>
          </a:prstGeom>
          <a:noFill/>
        </p:spPr>
        <p:txBody>
          <a:bodyPr wrap="square" anchor="t">
            <a:spAutoFit/>
          </a:bodyPr>
          <a:lstStyle/>
          <a:p>
            <a:pPr algn="l">
              <a:lnSpc>
                <a:spcPct val="115000"/>
              </a:lnSpc>
            </a:pPr>
            <a:r>
              <a:rPr sz="1350" b="1">
                <a:solidFill>
                  <a:srgbClr val="0E7C86"/>
                </a:solidFill>
                <a:latin typeface="Calibri"/>
              </a:rPr>
              <a:t>Never breaks a call</a:t>
            </a:r>
          </a:p>
        </p:txBody>
      </p:sp>
      <p:sp>
        <p:nvSpPr>
          <p:cNvPr id="22" name="TextBox 21"/>
          <p:cNvSpPr txBox="1"/>
          <p:nvPr/>
        </p:nvSpPr>
        <p:spPr>
          <a:xfrm>
            <a:off x="777240" y="5449824"/>
            <a:ext cx="4937760" cy="365760"/>
          </a:xfrm>
          <a:prstGeom prst="rect">
            <a:avLst/>
          </a:prstGeom>
          <a:noFill/>
        </p:spPr>
        <p:txBody>
          <a:bodyPr wrap="square" anchor="t">
            <a:spAutoFit/>
          </a:bodyPr>
          <a:lstStyle/>
          <a:p>
            <a:pPr algn="l">
              <a:lnSpc>
                <a:spcPct val="115000"/>
              </a:lnSpc>
            </a:pPr>
            <a:r>
              <a:rPr sz="1150" b="0">
                <a:solidFill>
                  <a:srgbClr val="555F6D"/>
                </a:solidFill>
                <a:latin typeface="Calibri"/>
              </a:rPr>
              <a:t>If the EHR is down the booking still succeeds. The sync reports a status; it never raises.</a:t>
            </a:r>
          </a:p>
        </p:txBody>
      </p:sp>
      <p:sp>
        <p:nvSpPr>
          <p:cNvPr id="23" name="Rectangle 22"/>
          <p:cNvSpPr/>
          <p:nvPr/>
        </p:nvSpPr>
        <p:spPr>
          <a:xfrm>
            <a:off x="6400800" y="3383280"/>
            <a:ext cx="5257800" cy="2286000"/>
          </a:xfrm>
          <a:prstGeom prst="rect">
            <a:avLst/>
          </a:prstGeom>
          <a:solidFill>
            <a:srgbClr val="F4F7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E7C86"/>
                </a:solidFill>
              </a:rPr>
              <a:t>[ ADD SCREENSHOT — EHR PAGE ]</a:t>
            </a:r>
          </a:p>
        </p:txBody>
      </p:sp>
      <p:sp>
        <p:nvSpPr>
          <p:cNvPr id="24" name="TextBox 23"/>
          <p:cNvSpPr txBox="1"/>
          <p:nvPr/>
        </p:nvSpPr>
        <p:spPr>
          <a:xfrm>
            <a:off x="502920" y="5943600"/>
            <a:ext cx="11155680" cy="457200"/>
          </a:xfrm>
          <a:prstGeom prst="rect">
            <a:avLst/>
          </a:prstGeom>
          <a:noFill/>
        </p:spPr>
        <p:txBody>
          <a:bodyPr wrap="square" anchor="t">
            <a:spAutoFit/>
          </a:bodyPr>
          <a:lstStyle/>
          <a:p>
            <a:pPr algn="l">
              <a:lnSpc>
                <a:spcPct val="115000"/>
              </a:lnSpc>
            </a:pPr>
            <a:r>
              <a:rPr sz="1300" b="1">
                <a:solidFill>
                  <a:srgbClr val="B46E00"/>
                </a:solidFill>
                <a:latin typeface="Calibri"/>
              </a:rPr>
              <a:t>Status today: no EHR is configured in this deployment — every clinic runs local-only.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Real-Time Dashboard</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The clinic sees a call while it is happening</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737360"/>
            <a:ext cx="205740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Call event</a:t>
            </a:r>
          </a:p>
        </p:txBody>
      </p:sp>
      <p:sp>
        <p:nvSpPr>
          <p:cNvPr id="7" name="Right Arrow 6"/>
          <p:cNvSpPr/>
          <p:nvPr/>
        </p:nvSpPr>
        <p:spPr>
          <a:xfrm>
            <a:off x="2606039" y="20848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34639" y="1737360"/>
            <a:ext cx="205740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Backend</a:t>
            </a:r>
          </a:p>
        </p:txBody>
      </p:sp>
      <p:sp>
        <p:nvSpPr>
          <p:cNvPr id="9" name="Right Arrow 8"/>
          <p:cNvSpPr/>
          <p:nvPr/>
        </p:nvSpPr>
        <p:spPr>
          <a:xfrm>
            <a:off x="4937759" y="20848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66359" y="1737360"/>
            <a:ext cx="2057400" cy="914400"/>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FFFFFF"/>
                </a:solidFill>
                <a:latin typeface="Calibri"/>
              </a:rPr>
              <a:t>WebSocket</a:t>
            </a:r>
          </a:p>
        </p:txBody>
      </p:sp>
      <p:sp>
        <p:nvSpPr>
          <p:cNvPr id="11" name="Right Arrow 10"/>
          <p:cNvSpPr/>
          <p:nvPr/>
        </p:nvSpPr>
        <p:spPr>
          <a:xfrm>
            <a:off x="7269479" y="20848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98079" y="1737360"/>
            <a:ext cx="205740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Frontend</a:t>
            </a:r>
          </a:p>
        </p:txBody>
      </p:sp>
      <p:sp>
        <p:nvSpPr>
          <p:cNvPr id="13" name="Right Arrow 12"/>
          <p:cNvSpPr/>
          <p:nvPr/>
        </p:nvSpPr>
        <p:spPr>
          <a:xfrm>
            <a:off x="9601200" y="2084831"/>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829800" y="1737360"/>
            <a:ext cx="2057400" cy="91440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00" b="0">
                <a:solidFill>
                  <a:srgbClr val="0F172A"/>
                </a:solidFill>
                <a:latin typeface="Calibri"/>
              </a:rPr>
              <a:t>Dashboard</a:t>
            </a:r>
          </a:p>
          <a:p>
            <a:pPr algn="ctr"/>
            <a:r>
              <a:rPr sz="1300" b="0">
                <a:solidFill>
                  <a:srgbClr val="0F172A"/>
                </a:solidFill>
                <a:latin typeface="Calibri"/>
              </a:rPr>
              <a:t>updates</a:t>
            </a:r>
          </a:p>
        </p:txBody>
      </p:sp>
      <p:sp>
        <p:nvSpPr>
          <p:cNvPr id="15" name="TextBox 14"/>
          <p:cNvSpPr txBox="1"/>
          <p:nvPr/>
        </p:nvSpPr>
        <p:spPr>
          <a:xfrm>
            <a:off x="502920" y="3017520"/>
            <a:ext cx="11155680" cy="411480"/>
          </a:xfrm>
          <a:prstGeom prst="rect">
            <a:avLst/>
          </a:prstGeom>
          <a:noFill/>
        </p:spPr>
        <p:txBody>
          <a:bodyPr wrap="square" anchor="t">
            <a:spAutoFit/>
          </a:bodyPr>
          <a:lstStyle/>
          <a:p>
            <a:pPr algn="l">
              <a:lnSpc>
                <a:spcPct val="115000"/>
              </a:lnSpc>
            </a:pPr>
            <a:r>
              <a:rPr sz="1600" b="1">
                <a:solidFill>
                  <a:srgbClr val="0E7C86"/>
                </a:solidFill>
                <a:latin typeface="Calibri"/>
              </a:rPr>
              <a:t>Events actually broadcast</a:t>
            </a:r>
          </a:p>
        </p:txBody>
      </p:sp>
      <p:sp>
        <p:nvSpPr>
          <p:cNvPr id="16" name="Rounded Rectangle 15"/>
          <p:cNvSpPr/>
          <p:nvPr/>
        </p:nvSpPr>
        <p:spPr>
          <a:xfrm>
            <a:off x="502920" y="352044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call.started</a:t>
            </a:r>
          </a:p>
        </p:txBody>
      </p:sp>
      <p:sp>
        <p:nvSpPr>
          <p:cNvPr id="17" name="Rounded Rectangle 16"/>
          <p:cNvSpPr/>
          <p:nvPr/>
        </p:nvSpPr>
        <p:spPr>
          <a:xfrm>
            <a:off x="3337560" y="352044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call.updated</a:t>
            </a:r>
          </a:p>
        </p:txBody>
      </p:sp>
      <p:sp>
        <p:nvSpPr>
          <p:cNvPr id="18" name="Rounded Rectangle 17"/>
          <p:cNvSpPr/>
          <p:nvPr/>
        </p:nvSpPr>
        <p:spPr>
          <a:xfrm>
            <a:off x="502920" y="406908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call.ended</a:t>
            </a:r>
          </a:p>
        </p:txBody>
      </p:sp>
      <p:sp>
        <p:nvSpPr>
          <p:cNvPr id="19" name="Rounded Rectangle 18"/>
          <p:cNvSpPr/>
          <p:nvPr/>
        </p:nvSpPr>
        <p:spPr>
          <a:xfrm>
            <a:off x="3337560" y="406908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appointment.created</a:t>
            </a:r>
          </a:p>
        </p:txBody>
      </p:sp>
      <p:sp>
        <p:nvSpPr>
          <p:cNvPr id="20" name="Rounded Rectangle 19"/>
          <p:cNvSpPr/>
          <p:nvPr/>
        </p:nvSpPr>
        <p:spPr>
          <a:xfrm>
            <a:off x="502920" y="461772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appointment.booked</a:t>
            </a:r>
          </a:p>
        </p:txBody>
      </p:sp>
      <p:sp>
        <p:nvSpPr>
          <p:cNvPr id="21" name="Rounded Rectangle 20"/>
          <p:cNvSpPr/>
          <p:nvPr/>
        </p:nvSpPr>
        <p:spPr>
          <a:xfrm>
            <a:off x="3337560" y="461772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appointment.updated</a:t>
            </a:r>
          </a:p>
        </p:txBody>
      </p:sp>
      <p:sp>
        <p:nvSpPr>
          <p:cNvPr id="22" name="Rounded Rectangle 21"/>
          <p:cNvSpPr/>
          <p:nvPr/>
        </p:nvSpPr>
        <p:spPr>
          <a:xfrm>
            <a:off x="502920" y="516636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appointment.rescheduled</a:t>
            </a:r>
          </a:p>
        </p:txBody>
      </p:sp>
      <p:sp>
        <p:nvSpPr>
          <p:cNvPr id="23" name="Rounded Rectangle 22"/>
          <p:cNvSpPr/>
          <p:nvPr/>
        </p:nvSpPr>
        <p:spPr>
          <a:xfrm>
            <a:off x="3337560" y="5166360"/>
            <a:ext cx="2651760" cy="45720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appointment.cancelled</a:t>
            </a:r>
          </a:p>
        </p:txBody>
      </p:sp>
      <p:sp>
        <p:nvSpPr>
          <p:cNvPr id="24" name="Rectangle 23"/>
          <p:cNvSpPr/>
          <p:nvPr/>
        </p:nvSpPr>
        <p:spPr>
          <a:xfrm>
            <a:off x="6400800" y="3520440"/>
            <a:ext cx="5257800" cy="2148840"/>
          </a:xfrm>
          <a:prstGeom prst="rect">
            <a:avLst/>
          </a:prstGeom>
          <a:solidFill>
            <a:srgbClr val="F4F7F8"/>
          </a:solidFill>
          <a:ln w="19050">
            <a:solidFill>
              <a:srgbClr val="0E7C86"/>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400" b="1">
                <a:solidFill>
                  <a:srgbClr val="0E7C86"/>
                </a:solidFill>
              </a:rPr>
              <a:t>[ ADD SCREENSHOT — CALL LOGS PAGE ]</a:t>
            </a:r>
          </a:p>
        </p:txBody>
      </p:sp>
      <p:sp>
        <p:nvSpPr>
          <p:cNvPr id="25" name="TextBox 24"/>
          <p:cNvSpPr txBox="1"/>
          <p:nvPr/>
        </p:nvSpPr>
        <p:spPr>
          <a:xfrm>
            <a:off x="502920" y="5852160"/>
            <a:ext cx="11155680" cy="457200"/>
          </a:xfrm>
          <a:prstGeom prst="rect">
            <a:avLst/>
          </a:prstGeom>
          <a:noFill/>
        </p:spPr>
        <p:txBody>
          <a:bodyPr wrap="square" anchor="t">
            <a:spAutoFit/>
          </a:bodyPr>
          <a:lstStyle/>
          <a:p>
            <a:pPr algn="l">
              <a:lnSpc>
                <a:spcPct val="115000"/>
              </a:lnSpc>
            </a:pPr>
            <a:r>
              <a:rPr sz="1250" b="0">
                <a:solidFill>
                  <a:srgbClr val="555F6D"/>
                </a:solidFill>
                <a:latin typeface="Calibri"/>
              </a:rPr>
              <a:t>Notifications are persisted before they are broadcast, so the live copy and the history are the same record — not duplicates.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Database</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SQL Server · 39 tables · one clinic per tenant</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4754880" y="1463040"/>
            <a:ext cx="2651760" cy="68580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400" b="1">
                <a:solidFill>
                  <a:srgbClr val="FFFFFF"/>
                </a:solidFill>
                <a:latin typeface="Calibri"/>
              </a:rPr>
              <a:t>organizations</a:t>
            </a:r>
          </a:p>
        </p:txBody>
      </p:sp>
      <p:sp>
        <p:nvSpPr>
          <p:cNvPr id="7" name="Rounded Rectangle 6"/>
          <p:cNvSpPr/>
          <p:nvPr/>
        </p:nvSpPr>
        <p:spPr>
          <a:xfrm>
            <a:off x="502920" y="2514600"/>
            <a:ext cx="1737360" cy="5943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users</a:t>
            </a:r>
          </a:p>
        </p:txBody>
      </p:sp>
      <p:sp>
        <p:nvSpPr>
          <p:cNvPr id="8" name="Rounded Rectangle 7"/>
          <p:cNvSpPr/>
          <p:nvPr/>
        </p:nvSpPr>
        <p:spPr>
          <a:xfrm>
            <a:off x="2450591" y="2514600"/>
            <a:ext cx="1737360" cy="5943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patients</a:t>
            </a:r>
          </a:p>
        </p:txBody>
      </p:sp>
      <p:sp>
        <p:nvSpPr>
          <p:cNvPr id="9" name="Rounded Rectangle 8"/>
          <p:cNvSpPr/>
          <p:nvPr/>
        </p:nvSpPr>
        <p:spPr>
          <a:xfrm>
            <a:off x="4398264" y="2514600"/>
            <a:ext cx="1737360" cy="5943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doctors</a:t>
            </a:r>
          </a:p>
        </p:txBody>
      </p:sp>
      <p:sp>
        <p:nvSpPr>
          <p:cNvPr id="10" name="Rounded Rectangle 9"/>
          <p:cNvSpPr/>
          <p:nvPr/>
        </p:nvSpPr>
        <p:spPr>
          <a:xfrm>
            <a:off x="6345936" y="2514600"/>
            <a:ext cx="1737360" cy="5943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call_logs</a:t>
            </a:r>
          </a:p>
        </p:txBody>
      </p:sp>
      <p:sp>
        <p:nvSpPr>
          <p:cNvPr id="11" name="Rounded Rectangle 10"/>
          <p:cNvSpPr/>
          <p:nvPr/>
        </p:nvSpPr>
        <p:spPr>
          <a:xfrm>
            <a:off x="8293608" y="2514600"/>
            <a:ext cx="1737360" cy="5943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phone_numbers</a:t>
            </a:r>
          </a:p>
        </p:txBody>
      </p:sp>
      <p:sp>
        <p:nvSpPr>
          <p:cNvPr id="12" name="Rounded Rectangle 11"/>
          <p:cNvSpPr/>
          <p:nvPr/>
        </p:nvSpPr>
        <p:spPr>
          <a:xfrm>
            <a:off x="10241280" y="2514600"/>
            <a:ext cx="1737360" cy="5943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00" b="0">
                <a:solidFill>
                  <a:srgbClr val="0F172A"/>
                </a:solidFill>
                <a:latin typeface="Calibri"/>
              </a:rPr>
              <a:t>audit_log</a:t>
            </a:r>
          </a:p>
        </p:txBody>
      </p:sp>
      <p:sp>
        <p:nvSpPr>
          <p:cNvPr id="13" name="Rounded Rectangle 12"/>
          <p:cNvSpPr/>
          <p:nvPr/>
        </p:nvSpPr>
        <p:spPr>
          <a:xfrm>
            <a:off x="2194560" y="3520440"/>
            <a:ext cx="1874519" cy="59436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appointments</a:t>
            </a:r>
          </a:p>
        </p:txBody>
      </p:sp>
      <p:sp>
        <p:nvSpPr>
          <p:cNvPr id="14" name="Rounded Rectangle 13"/>
          <p:cNvSpPr/>
          <p:nvPr/>
        </p:nvSpPr>
        <p:spPr>
          <a:xfrm>
            <a:off x="4206240" y="3520440"/>
            <a:ext cx="1874519" cy="59436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prescriptions</a:t>
            </a:r>
          </a:p>
        </p:txBody>
      </p:sp>
      <p:sp>
        <p:nvSpPr>
          <p:cNvPr id="15" name="Rounded Rectangle 14"/>
          <p:cNvSpPr/>
          <p:nvPr/>
        </p:nvSpPr>
        <p:spPr>
          <a:xfrm>
            <a:off x="6217920" y="3520440"/>
            <a:ext cx="1874519" cy="59436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interactions</a:t>
            </a:r>
          </a:p>
        </p:txBody>
      </p:sp>
      <p:sp>
        <p:nvSpPr>
          <p:cNvPr id="16" name="Rounded Rectangle 15"/>
          <p:cNvSpPr/>
          <p:nvPr/>
        </p:nvSpPr>
        <p:spPr>
          <a:xfrm>
            <a:off x="8229600" y="3520440"/>
            <a:ext cx="1874519" cy="59436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150" b="0">
                <a:solidFill>
                  <a:srgbClr val="0F172A"/>
                </a:solidFill>
                <a:latin typeface="Calibri"/>
              </a:rPr>
              <a:t>transcript_messages</a:t>
            </a:r>
          </a:p>
        </p:txBody>
      </p:sp>
      <p:sp>
        <p:nvSpPr>
          <p:cNvPr id="17" name="TextBox 16"/>
          <p:cNvSpPr txBox="1"/>
          <p:nvPr/>
        </p:nvSpPr>
        <p:spPr>
          <a:xfrm>
            <a:off x="502920" y="4434840"/>
            <a:ext cx="11155680" cy="411480"/>
          </a:xfrm>
          <a:prstGeom prst="rect">
            <a:avLst/>
          </a:prstGeom>
          <a:noFill/>
        </p:spPr>
        <p:txBody>
          <a:bodyPr wrap="square" anchor="t">
            <a:spAutoFit/>
          </a:bodyPr>
          <a:lstStyle/>
          <a:p>
            <a:pPr algn="l">
              <a:lnSpc>
                <a:spcPct val="115000"/>
              </a:lnSpc>
            </a:pPr>
            <a:r>
              <a:rPr sz="1600" b="1">
                <a:solidFill>
                  <a:srgbClr val="0E7C86"/>
                </a:solidFill>
                <a:latin typeface="Calibri"/>
              </a:rPr>
              <a:t>Two rules that shape every query</a:t>
            </a:r>
          </a:p>
        </p:txBody>
      </p:sp>
      <p:sp>
        <p:nvSpPr>
          <p:cNvPr id="18" name="TextBox 17"/>
          <p:cNvSpPr txBox="1"/>
          <p:nvPr/>
        </p:nvSpPr>
        <p:spPr>
          <a:xfrm>
            <a:off x="731520" y="4892040"/>
            <a:ext cx="5394960" cy="1005840"/>
          </a:xfrm>
          <a:prstGeom prst="rect">
            <a:avLst/>
          </a:prstGeom>
          <a:noFill/>
        </p:spPr>
        <p:txBody>
          <a:bodyPr wrap="square" anchor="t">
            <a:spAutoFit/>
          </a:bodyPr>
          <a:lstStyle/>
          <a:p>
            <a:pPr algn="l">
              <a:lnSpc>
                <a:spcPct val="115000"/>
              </a:lnSpc>
            </a:pPr>
            <a:r>
              <a:rPr sz="1300" b="0">
                <a:solidFill>
                  <a:srgbClr val="0F172A"/>
                </a:solidFill>
                <a:latin typeface="Calibri"/>
              </a:rPr>
              <a:t>Every table carries the clinic's id, and there is NO automatic filter — each query filters explicitly, and tests prove it.</a:t>
            </a:r>
          </a:p>
        </p:txBody>
      </p:sp>
      <p:sp>
        <p:nvSpPr>
          <p:cNvPr id="19" name="TextBox 18"/>
          <p:cNvSpPr txBox="1"/>
          <p:nvPr/>
        </p:nvSpPr>
        <p:spPr>
          <a:xfrm>
            <a:off x="6400800" y="4892040"/>
            <a:ext cx="5394960" cy="1005840"/>
          </a:xfrm>
          <a:prstGeom prst="rect">
            <a:avLst/>
          </a:prstGeom>
          <a:noFill/>
        </p:spPr>
        <p:txBody>
          <a:bodyPr wrap="square" anchor="t">
            <a:spAutoFit/>
          </a:bodyPr>
          <a:lstStyle/>
          <a:p>
            <a:pPr algn="l">
              <a:lnSpc>
                <a:spcPct val="115000"/>
              </a:lnSpc>
            </a:pPr>
            <a:r>
              <a:rPr sz="1300" b="0">
                <a:solidFill>
                  <a:srgbClr val="0F172A"/>
                </a:solidFill>
                <a:latin typeface="Calibri"/>
              </a:rPr>
              <a:t>Appointment times are the clinic's wall clock; audit timestamps are UTC. Mixing them shifts a reminder window by hours.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API Architecture</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One path in, one path out</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828800"/>
            <a:ext cx="2057400" cy="1005840"/>
          </a:xfrm>
          <a:prstGeom prst="roundRect">
            <a:avLst/>
          </a:prstGeom>
          <a:solidFill>
            <a:srgbClr val="E8F1F2"/>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Frontend</a:t>
            </a:r>
          </a:p>
          <a:p>
            <a:pPr algn="ctr"/>
            <a:r>
              <a:rPr sz="1250" b="0">
                <a:solidFill>
                  <a:srgbClr val="0F172A"/>
                </a:solidFill>
                <a:latin typeface="Calibri"/>
              </a:rPr>
              <a:t>src/lib/api.js</a:t>
            </a:r>
          </a:p>
        </p:txBody>
      </p:sp>
      <p:sp>
        <p:nvSpPr>
          <p:cNvPr id="7" name="Right Arrow 6"/>
          <p:cNvSpPr/>
          <p:nvPr/>
        </p:nvSpPr>
        <p:spPr>
          <a:xfrm>
            <a:off x="2606039" y="222199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2834639" y="1828800"/>
            <a:ext cx="2057400" cy="100584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FastAPI Router</a:t>
            </a:r>
          </a:p>
          <a:p>
            <a:pPr algn="ctr"/>
            <a:r>
              <a:rPr sz="1250" b="0">
                <a:solidFill>
                  <a:srgbClr val="0F172A"/>
                </a:solidFill>
                <a:latin typeface="Calibri"/>
              </a:rPr>
              <a:t>app/routers/</a:t>
            </a:r>
          </a:p>
        </p:txBody>
      </p:sp>
      <p:sp>
        <p:nvSpPr>
          <p:cNvPr id="9" name="Right Arrow 8"/>
          <p:cNvSpPr/>
          <p:nvPr/>
        </p:nvSpPr>
        <p:spPr>
          <a:xfrm>
            <a:off x="4937759" y="222199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5166359" y="1828800"/>
            <a:ext cx="2057400" cy="100584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Service layer</a:t>
            </a:r>
          </a:p>
          <a:p>
            <a:pPr algn="ctr"/>
            <a:r>
              <a:rPr sz="1250" b="0">
                <a:solidFill>
                  <a:srgbClr val="0F172A"/>
                </a:solidFill>
                <a:latin typeface="Calibri"/>
              </a:rPr>
              <a:t>business logic</a:t>
            </a:r>
          </a:p>
        </p:txBody>
      </p:sp>
      <p:sp>
        <p:nvSpPr>
          <p:cNvPr id="11" name="Right Arrow 10"/>
          <p:cNvSpPr/>
          <p:nvPr/>
        </p:nvSpPr>
        <p:spPr>
          <a:xfrm>
            <a:off x="7269479" y="222199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7498079" y="1828800"/>
            <a:ext cx="2057400" cy="100584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SQLAlchemy 2.0</a:t>
            </a:r>
          </a:p>
        </p:txBody>
      </p:sp>
      <p:sp>
        <p:nvSpPr>
          <p:cNvPr id="13" name="Right Arrow 12"/>
          <p:cNvSpPr/>
          <p:nvPr/>
        </p:nvSpPr>
        <p:spPr>
          <a:xfrm>
            <a:off x="9601200" y="2221992"/>
            <a:ext cx="18288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829800" y="1828800"/>
            <a:ext cx="2057400" cy="100584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SQL Server</a:t>
            </a:r>
          </a:p>
        </p:txBody>
      </p:sp>
      <p:sp>
        <p:nvSpPr>
          <p:cNvPr id="15" name="Rounded Rectangle 14"/>
          <p:cNvSpPr/>
          <p:nvPr/>
        </p:nvSpPr>
        <p:spPr>
          <a:xfrm>
            <a:off x="502920" y="3383280"/>
            <a:ext cx="2697480" cy="13716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6" name="TextBox 15"/>
          <p:cNvSpPr txBox="1"/>
          <p:nvPr/>
        </p:nvSpPr>
        <p:spPr>
          <a:xfrm>
            <a:off x="685800" y="3520440"/>
            <a:ext cx="2331720" cy="548640"/>
          </a:xfrm>
          <a:prstGeom prst="rect">
            <a:avLst/>
          </a:prstGeom>
          <a:noFill/>
        </p:spPr>
        <p:txBody>
          <a:bodyPr wrap="square" anchor="t">
            <a:spAutoFit/>
          </a:bodyPr>
          <a:lstStyle/>
          <a:p>
            <a:pPr algn="ctr">
              <a:lnSpc>
                <a:spcPct val="115000"/>
              </a:lnSpc>
            </a:pPr>
            <a:r>
              <a:rPr sz="3000" b="1">
                <a:solidFill>
                  <a:srgbClr val="0E7C86"/>
                </a:solidFill>
                <a:latin typeface="Calibri"/>
              </a:rPr>
              <a:t>176</a:t>
            </a:r>
          </a:p>
        </p:txBody>
      </p:sp>
      <p:sp>
        <p:nvSpPr>
          <p:cNvPr id="17" name="TextBox 16"/>
          <p:cNvSpPr txBox="1"/>
          <p:nvPr/>
        </p:nvSpPr>
        <p:spPr>
          <a:xfrm>
            <a:off x="685800" y="4114800"/>
            <a:ext cx="2331720" cy="548640"/>
          </a:xfrm>
          <a:prstGeom prst="rect">
            <a:avLst/>
          </a:prstGeom>
          <a:noFill/>
        </p:spPr>
        <p:txBody>
          <a:bodyPr wrap="square" anchor="t">
            <a:spAutoFit/>
          </a:bodyPr>
          <a:lstStyle/>
          <a:p>
            <a:pPr algn="ctr">
              <a:lnSpc>
                <a:spcPct val="115000"/>
              </a:lnSpc>
            </a:pPr>
            <a:r>
              <a:rPr sz="1200" b="0">
                <a:solidFill>
                  <a:srgbClr val="555F6D"/>
                </a:solidFill>
                <a:latin typeface="Calibri"/>
              </a:rPr>
              <a:t>routes registered</a:t>
            </a:r>
          </a:p>
        </p:txBody>
      </p:sp>
      <p:sp>
        <p:nvSpPr>
          <p:cNvPr id="18" name="Rounded Rectangle 17"/>
          <p:cNvSpPr/>
          <p:nvPr/>
        </p:nvSpPr>
        <p:spPr>
          <a:xfrm>
            <a:off x="3383280" y="3383280"/>
            <a:ext cx="2697480" cy="13716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9" name="TextBox 18"/>
          <p:cNvSpPr txBox="1"/>
          <p:nvPr/>
        </p:nvSpPr>
        <p:spPr>
          <a:xfrm>
            <a:off x="3566160" y="3520440"/>
            <a:ext cx="2331720" cy="548640"/>
          </a:xfrm>
          <a:prstGeom prst="rect">
            <a:avLst/>
          </a:prstGeom>
          <a:noFill/>
        </p:spPr>
        <p:txBody>
          <a:bodyPr wrap="square" anchor="t">
            <a:spAutoFit/>
          </a:bodyPr>
          <a:lstStyle/>
          <a:p>
            <a:pPr algn="ctr">
              <a:lnSpc>
                <a:spcPct val="115000"/>
              </a:lnSpc>
            </a:pPr>
            <a:r>
              <a:rPr sz="3000" b="1">
                <a:solidFill>
                  <a:srgbClr val="0E7C86"/>
                </a:solidFill>
                <a:latin typeface="Calibri"/>
              </a:rPr>
              <a:t>29</a:t>
            </a:r>
          </a:p>
        </p:txBody>
      </p:sp>
      <p:sp>
        <p:nvSpPr>
          <p:cNvPr id="20" name="TextBox 19"/>
          <p:cNvSpPr txBox="1"/>
          <p:nvPr/>
        </p:nvSpPr>
        <p:spPr>
          <a:xfrm>
            <a:off x="3566160" y="4114800"/>
            <a:ext cx="2331720" cy="548640"/>
          </a:xfrm>
          <a:prstGeom prst="rect">
            <a:avLst/>
          </a:prstGeom>
          <a:noFill/>
        </p:spPr>
        <p:txBody>
          <a:bodyPr wrap="square" anchor="t">
            <a:spAutoFit/>
          </a:bodyPr>
          <a:lstStyle/>
          <a:p>
            <a:pPr algn="ctr">
              <a:lnSpc>
                <a:spcPct val="115000"/>
              </a:lnSpc>
            </a:pPr>
            <a:r>
              <a:rPr sz="1200" b="0">
                <a:solidFill>
                  <a:srgbClr val="555F6D"/>
                </a:solidFill>
                <a:latin typeface="Calibri"/>
              </a:rPr>
              <a:t>routers</a:t>
            </a:r>
          </a:p>
        </p:txBody>
      </p:sp>
      <p:sp>
        <p:nvSpPr>
          <p:cNvPr id="21" name="Rounded Rectangle 20"/>
          <p:cNvSpPr/>
          <p:nvPr/>
        </p:nvSpPr>
        <p:spPr>
          <a:xfrm>
            <a:off x="6263640" y="3383280"/>
            <a:ext cx="2697480" cy="13716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 name="TextBox 21"/>
          <p:cNvSpPr txBox="1"/>
          <p:nvPr/>
        </p:nvSpPr>
        <p:spPr>
          <a:xfrm>
            <a:off x="6446520" y="3520440"/>
            <a:ext cx="2331720" cy="548640"/>
          </a:xfrm>
          <a:prstGeom prst="rect">
            <a:avLst/>
          </a:prstGeom>
          <a:noFill/>
        </p:spPr>
        <p:txBody>
          <a:bodyPr wrap="square" anchor="t">
            <a:spAutoFit/>
          </a:bodyPr>
          <a:lstStyle/>
          <a:p>
            <a:pPr algn="ctr">
              <a:lnSpc>
                <a:spcPct val="115000"/>
              </a:lnSpc>
            </a:pPr>
            <a:r>
              <a:rPr sz="3000" b="1">
                <a:solidFill>
                  <a:srgbClr val="0E7C86"/>
                </a:solidFill>
                <a:latin typeface="Calibri"/>
              </a:rPr>
              <a:t>108</a:t>
            </a:r>
          </a:p>
        </p:txBody>
      </p:sp>
      <p:sp>
        <p:nvSpPr>
          <p:cNvPr id="23" name="TextBox 22"/>
          <p:cNvSpPr txBox="1"/>
          <p:nvPr/>
        </p:nvSpPr>
        <p:spPr>
          <a:xfrm>
            <a:off x="6446520" y="4114800"/>
            <a:ext cx="2331720" cy="548640"/>
          </a:xfrm>
          <a:prstGeom prst="rect">
            <a:avLst/>
          </a:prstGeom>
          <a:noFill/>
        </p:spPr>
        <p:txBody>
          <a:bodyPr wrap="square" anchor="t">
            <a:spAutoFit/>
          </a:bodyPr>
          <a:lstStyle/>
          <a:p>
            <a:pPr algn="ctr">
              <a:lnSpc>
                <a:spcPct val="115000"/>
              </a:lnSpc>
            </a:pPr>
            <a:r>
              <a:rPr sz="1200" b="0">
                <a:solidFill>
                  <a:srgbClr val="555F6D"/>
                </a:solidFill>
                <a:latin typeface="Calibri"/>
              </a:rPr>
              <a:t>frontend API wrappers</a:t>
            </a:r>
          </a:p>
        </p:txBody>
      </p:sp>
      <p:sp>
        <p:nvSpPr>
          <p:cNvPr id="24" name="Rounded Rectangle 23"/>
          <p:cNvSpPr/>
          <p:nvPr/>
        </p:nvSpPr>
        <p:spPr>
          <a:xfrm>
            <a:off x="9144000" y="3383280"/>
            <a:ext cx="2697480" cy="137160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5" name="TextBox 24"/>
          <p:cNvSpPr txBox="1"/>
          <p:nvPr/>
        </p:nvSpPr>
        <p:spPr>
          <a:xfrm>
            <a:off x="9326880" y="3520440"/>
            <a:ext cx="2331720" cy="548640"/>
          </a:xfrm>
          <a:prstGeom prst="rect">
            <a:avLst/>
          </a:prstGeom>
          <a:noFill/>
        </p:spPr>
        <p:txBody>
          <a:bodyPr wrap="square" anchor="t">
            <a:spAutoFit/>
          </a:bodyPr>
          <a:lstStyle/>
          <a:p>
            <a:pPr algn="ctr">
              <a:lnSpc>
                <a:spcPct val="115000"/>
              </a:lnSpc>
            </a:pPr>
            <a:r>
              <a:rPr sz="3000" b="1">
                <a:solidFill>
                  <a:srgbClr val="0E7C86"/>
                </a:solidFill>
                <a:latin typeface="Calibri"/>
              </a:rPr>
              <a:t>5</a:t>
            </a:r>
          </a:p>
        </p:txBody>
      </p:sp>
      <p:sp>
        <p:nvSpPr>
          <p:cNvPr id="26" name="TextBox 25"/>
          <p:cNvSpPr txBox="1"/>
          <p:nvPr/>
        </p:nvSpPr>
        <p:spPr>
          <a:xfrm>
            <a:off x="9326880" y="4114800"/>
            <a:ext cx="2331720" cy="548640"/>
          </a:xfrm>
          <a:prstGeom prst="rect">
            <a:avLst/>
          </a:prstGeom>
          <a:noFill/>
        </p:spPr>
        <p:txBody>
          <a:bodyPr wrap="square" anchor="t">
            <a:spAutoFit/>
          </a:bodyPr>
          <a:lstStyle/>
          <a:p>
            <a:pPr algn="ctr">
              <a:lnSpc>
                <a:spcPct val="115000"/>
              </a:lnSpc>
            </a:pPr>
            <a:r>
              <a:rPr sz="1200" b="0">
                <a:solidFill>
                  <a:srgbClr val="555F6D"/>
                </a:solidFill>
                <a:latin typeface="Calibri"/>
              </a:rPr>
              <a:t>unauthenticated routers,</a:t>
            </a:r>
          </a:p>
          <a:p>
            <a:pPr algn="ctr">
              <a:lnSpc>
                <a:spcPct val="115000"/>
              </a:lnSpc>
            </a:pPr>
            <a:r>
              <a:rPr sz="1200" b="0">
                <a:solidFill>
                  <a:srgbClr val="555F6D"/>
                </a:solidFill>
                <a:latin typeface="Calibri"/>
              </a:rPr>
              <a:t>each deliberate</a:t>
            </a:r>
          </a:p>
        </p:txBody>
      </p:sp>
      <p:sp>
        <p:nvSpPr>
          <p:cNvPr id="27" name="TextBox 26"/>
          <p:cNvSpPr txBox="1"/>
          <p:nvPr/>
        </p:nvSpPr>
        <p:spPr>
          <a:xfrm>
            <a:off x="502920" y="5029200"/>
            <a:ext cx="11155680" cy="822960"/>
          </a:xfrm>
          <a:prstGeom prst="rect">
            <a:avLst/>
          </a:prstGeom>
          <a:noFill/>
        </p:spPr>
        <p:txBody>
          <a:bodyPr wrap="square" anchor="t">
            <a:spAutoFit/>
          </a:bodyPr>
          <a:lstStyle/>
          <a:p>
            <a:pPr algn="l">
              <a:lnSpc>
                <a:spcPct val="115000"/>
              </a:lnSpc>
            </a:pPr>
            <a:r>
              <a:rPr sz="1350" b="0">
                <a:solidFill>
                  <a:srgbClr val="0F172A"/>
                </a:solidFill>
                <a:latin typeface="Calibri"/>
              </a:rPr>
              <a:t>The voice agent uses these same endpoints — it holds no business logic of its own, so a rule fixed once is fixed for staff and the AI together.</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Complete End-to-End Flow</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One call, from ring to dashboard</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600200"/>
            <a:ext cx="2514600" cy="105156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1">
                <a:solidFill>
                  <a:srgbClr val="FFFFFF"/>
                </a:solidFill>
                <a:latin typeface="Calibri"/>
              </a:rPr>
              <a:t>1.  Patient calls</a:t>
            </a:r>
          </a:p>
        </p:txBody>
      </p:sp>
      <p:sp>
        <p:nvSpPr>
          <p:cNvPr id="7" name="Right Arrow 6"/>
          <p:cNvSpPr/>
          <p:nvPr/>
        </p:nvSpPr>
        <p:spPr>
          <a:xfrm>
            <a:off x="3063239" y="2011680"/>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3429000" y="1600200"/>
            <a:ext cx="2514600" cy="10515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2.  Signature</a:t>
            </a:r>
          </a:p>
          <a:p>
            <a:pPr algn="ctr"/>
            <a:r>
              <a:rPr sz="1250" b="0">
                <a:solidFill>
                  <a:srgbClr val="0F172A"/>
                </a:solidFill>
                <a:latin typeface="Calibri"/>
              </a:rPr>
              <a:t>verified</a:t>
            </a:r>
          </a:p>
        </p:txBody>
      </p:sp>
      <p:sp>
        <p:nvSpPr>
          <p:cNvPr id="9" name="Right Arrow 8"/>
          <p:cNvSpPr/>
          <p:nvPr/>
        </p:nvSpPr>
        <p:spPr>
          <a:xfrm>
            <a:off x="5989320" y="2011680"/>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55080" y="1600200"/>
            <a:ext cx="2514600" cy="10515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3.  Clinic identified</a:t>
            </a:r>
          </a:p>
          <a:p>
            <a:pPr algn="ctr"/>
            <a:r>
              <a:rPr sz="1250" b="0">
                <a:solidFill>
                  <a:srgbClr val="0F172A"/>
                </a:solidFill>
                <a:latin typeface="Calibri"/>
              </a:rPr>
              <a:t>from the number</a:t>
            </a:r>
          </a:p>
        </p:txBody>
      </p:sp>
      <p:sp>
        <p:nvSpPr>
          <p:cNvPr id="11" name="Right Arrow 10"/>
          <p:cNvSpPr/>
          <p:nvPr/>
        </p:nvSpPr>
        <p:spPr>
          <a:xfrm>
            <a:off x="8915400" y="2011680"/>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ounded Rectangle 11"/>
          <p:cNvSpPr/>
          <p:nvPr/>
        </p:nvSpPr>
        <p:spPr>
          <a:xfrm>
            <a:off x="9281160" y="1600200"/>
            <a:ext cx="2514600" cy="10515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4.  AI conversation</a:t>
            </a:r>
          </a:p>
        </p:txBody>
      </p:sp>
      <p:sp>
        <p:nvSpPr>
          <p:cNvPr id="13" name="Rounded Rectangle 12"/>
          <p:cNvSpPr/>
          <p:nvPr/>
        </p:nvSpPr>
        <p:spPr>
          <a:xfrm>
            <a:off x="502920" y="3200400"/>
            <a:ext cx="2514600" cy="10515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5.  Patient identified</a:t>
            </a:r>
          </a:p>
        </p:txBody>
      </p:sp>
      <p:sp>
        <p:nvSpPr>
          <p:cNvPr id="14" name="Right Arrow 13"/>
          <p:cNvSpPr/>
          <p:nvPr/>
        </p:nvSpPr>
        <p:spPr>
          <a:xfrm>
            <a:off x="3063239" y="3611880"/>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429000" y="3200400"/>
            <a:ext cx="2514600" cy="10515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6.  Slot validated</a:t>
            </a:r>
          </a:p>
          <a:p>
            <a:pPr algn="ctr"/>
            <a:r>
              <a:rPr sz="1250" b="0">
                <a:solidFill>
                  <a:srgbClr val="0F172A"/>
                </a:solidFill>
                <a:latin typeface="Calibri"/>
              </a:rPr>
              <a:t>&amp; booked</a:t>
            </a:r>
          </a:p>
        </p:txBody>
      </p:sp>
      <p:sp>
        <p:nvSpPr>
          <p:cNvPr id="16" name="Right Arrow 15"/>
          <p:cNvSpPr/>
          <p:nvPr/>
        </p:nvSpPr>
        <p:spPr>
          <a:xfrm>
            <a:off x="5989320" y="3611880"/>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6"/>
          <p:cNvSpPr/>
          <p:nvPr/>
        </p:nvSpPr>
        <p:spPr>
          <a:xfrm>
            <a:off x="6355080" y="3200400"/>
            <a:ext cx="2514600" cy="1051560"/>
          </a:xfrm>
          <a:prstGeom prst="roundRect">
            <a:avLst/>
          </a:prstGeom>
          <a:solidFill>
            <a:srgbClr val="FFFFFF"/>
          </a:solidFill>
          <a:ln w="15875">
            <a:solidFill>
              <a:srgbClr val="0E7C86"/>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0">
                <a:solidFill>
                  <a:srgbClr val="0F172A"/>
                </a:solidFill>
                <a:latin typeface="Calibri"/>
              </a:rPr>
              <a:t>7.  Saved to</a:t>
            </a:r>
          </a:p>
          <a:p>
            <a:pPr algn="ctr"/>
            <a:r>
              <a:rPr sz="1250" b="0">
                <a:solidFill>
                  <a:srgbClr val="0F172A"/>
                </a:solidFill>
                <a:latin typeface="Calibri"/>
              </a:rPr>
              <a:t>database</a:t>
            </a:r>
          </a:p>
        </p:txBody>
      </p:sp>
      <p:sp>
        <p:nvSpPr>
          <p:cNvPr id="18" name="Right Arrow 17"/>
          <p:cNvSpPr/>
          <p:nvPr/>
        </p:nvSpPr>
        <p:spPr>
          <a:xfrm>
            <a:off x="8915400" y="3611880"/>
            <a:ext cx="274320" cy="219456"/>
          </a:xfrm>
          <a:prstGeom prst="rightArrow">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9281160" y="3200400"/>
            <a:ext cx="2514600" cy="1051560"/>
          </a:xfrm>
          <a:prstGeom prst="round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250" b="1">
                <a:solidFill>
                  <a:srgbClr val="FFFFFF"/>
                </a:solidFill>
                <a:latin typeface="Calibri"/>
              </a:rPr>
              <a:t>8.  Dashboard</a:t>
            </a:r>
          </a:p>
          <a:p>
            <a:pPr algn="ctr"/>
            <a:r>
              <a:rPr sz="1250" b="1">
                <a:solidFill>
                  <a:srgbClr val="FFFFFF"/>
                </a:solidFill>
                <a:latin typeface="Calibri"/>
              </a:rPr>
              <a:t>updates live</a:t>
            </a:r>
          </a:p>
        </p:txBody>
      </p:sp>
      <p:sp>
        <p:nvSpPr>
          <p:cNvPr id="20" name="Rounded Rectangle 19"/>
          <p:cNvSpPr/>
          <p:nvPr/>
        </p:nvSpPr>
        <p:spPr>
          <a:xfrm>
            <a:off x="502920" y="4846320"/>
            <a:ext cx="11155680" cy="1051560"/>
          </a:xfrm>
          <a:prstGeom prst="roundRect">
            <a:avLst/>
          </a:prstGeom>
          <a:solidFill>
            <a:srgbClr val="E8F1F2"/>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350" b="0">
                <a:solidFill>
                  <a:srgbClr val="0F172A"/>
                </a:solidFill>
                <a:latin typeface="Calibri"/>
              </a:rPr>
              <a:t>Every step above is verified in the code. The transcript, summary, sentiment and outcome are written when the call ends — and 'Booked' only appears if an appointment record actually exists.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Business Value</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Only what the system actually delivers</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600200"/>
            <a:ext cx="3520440" cy="1874519"/>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7" name="TextBox 6"/>
          <p:cNvSpPr txBox="1"/>
          <p:nvPr/>
        </p:nvSpPr>
        <p:spPr>
          <a:xfrm>
            <a:off x="731520" y="1828800"/>
            <a:ext cx="3063240" cy="457200"/>
          </a:xfrm>
          <a:prstGeom prst="rect">
            <a:avLst/>
          </a:prstGeom>
          <a:noFill/>
        </p:spPr>
        <p:txBody>
          <a:bodyPr wrap="square" anchor="t">
            <a:spAutoFit/>
          </a:bodyPr>
          <a:lstStyle/>
          <a:p>
            <a:pPr algn="l">
              <a:lnSpc>
                <a:spcPct val="115000"/>
              </a:lnSpc>
            </a:pPr>
            <a:r>
              <a:rPr sz="1500" b="1">
                <a:solidFill>
                  <a:srgbClr val="0E7C86"/>
                </a:solidFill>
                <a:latin typeface="Calibri"/>
              </a:rPr>
              <a:t>Every call answered</a:t>
            </a:r>
          </a:p>
        </p:txBody>
      </p:sp>
      <p:sp>
        <p:nvSpPr>
          <p:cNvPr id="8" name="TextBox 7"/>
          <p:cNvSpPr txBox="1"/>
          <p:nvPr/>
        </p:nvSpPr>
        <p:spPr>
          <a:xfrm>
            <a:off x="731520" y="2377440"/>
            <a:ext cx="3063240" cy="914400"/>
          </a:xfrm>
          <a:prstGeom prst="rect">
            <a:avLst/>
          </a:prstGeom>
          <a:noFill/>
        </p:spPr>
        <p:txBody>
          <a:bodyPr wrap="square" anchor="t">
            <a:spAutoFit/>
          </a:bodyPr>
          <a:lstStyle/>
          <a:p>
            <a:pPr algn="l">
              <a:lnSpc>
                <a:spcPct val="115000"/>
              </a:lnSpc>
            </a:pPr>
            <a:r>
              <a:rPr sz="1250" b="0">
                <a:solidFill>
                  <a:srgbClr val="555F6D"/>
                </a:solidFill>
                <a:latin typeface="Calibri"/>
              </a:rPr>
              <a:t>Out of hours and during a rush — no voicemail, no queue</a:t>
            </a:r>
          </a:p>
        </p:txBody>
      </p:sp>
      <p:sp>
        <p:nvSpPr>
          <p:cNvPr id="9" name="Rounded Rectangle 8"/>
          <p:cNvSpPr/>
          <p:nvPr/>
        </p:nvSpPr>
        <p:spPr>
          <a:xfrm>
            <a:off x="4297680" y="1600200"/>
            <a:ext cx="3520440" cy="1874519"/>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0" name="TextBox 9"/>
          <p:cNvSpPr txBox="1"/>
          <p:nvPr/>
        </p:nvSpPr>
        <p:spPr>
          <a:xfrm>
            <a:off x="4526280" y="1828800"/>
            <a:ext cx="3063240" cy="457200"/>
          </a:xfrm>
          <a:prstGeom prst="rect">
            <a:avLst/>
          </a:prstGeom>
          <a:noFill/>
        </p:spPr>
        <p:txBody>
          <a:bodyPr wrap="square" anchor="t">
            <a:spAutoFit/>
          </a:bodyPr>
          <a:lstStyle/>
          <a:p>
            <a:pPr algn="l">
              <a:lnSpc>
                <a:spcPct val="115000"/>
              </a:lnSpc>
            </a:pPr>
            <a:r>
              <a:rPr sz="1500" b="1">
                <a:solidFill>
                  <a:srgbClr val="0E7C86"/>
                </a:solidFill>
                <a:latin typeface="Calibri"/>
              </a:rPr>
              <a:t>Bookings without staff</a:t>
            </a:r>
          </a:p>
        </p:txBody>
      </p:sp>
      <p:sp>
        <p:nvSpPr>
          <p:cNvPr id="11" name="TextBox 10"/>
          <p:cNvSpPr txBox="1"/>
          <p:nvPr/>
        </p:nvSpPr>
        <p:spPr>
          <a:xfrm>
            <a:off x="4526280" y="2377440"/>
            <a:ext cx="3063240" cy="914400"/>
          </a:xfrm>
          <a:prstGeom prst="rect">
            <a:avLst/>
          </a:prstGeom>
          <a:noFill/>
        </p:spPr>
        <p:txBody>
          <a:bodyPr wrap="square" anchor="t">
            <a:spAutoFit/>
          </a:bodyPr>
          <a:lstStyle/>
          <a:p>
            <a:pPr algn="l">
              <a:lnSpc>
                <a:spcPct val="115000"/>
              </a:lnSpc>
            </a:pPr>
            <a:r>
              <a:rPr sz="1250" b="0">
                <a:solidFill>
                  <a:srgbClr val="555F6D"/>
                </a:solidFill>
                <a:latin typeface="Calibri"/>
              </a:rPr>
              <a:t>The AI books into the real calendar, validated</a:t>
            </a:r>
          </a:p>
        </p:txBody>
      </p:sp>
      <p:sp>
        <p:nvSpPr>
          <p:cNvPr id="12" name="Rounded Rectangle 11"/>
          <p:cNvSpPr/>
          <p:nvPr/>
        </p:nvSpPr>
        <p:spPr>
          <a:xfrm>
            <a:off x="8092440" y="1600200"/>
            <a:ext cx="3520440" cy="1874519"/>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3" name="TextBox 12"/>
          <p:cNvSpPr txBox="1"/>
          <p:nvPr/>
        </p:nvSpPr>
        <p:spPr>
          <a:xfrm>
            <a:off x="8321040" y="1828800"/>
            <a:ext cx="3063240" cy="457200"/>
          </a:xfrm>
          <a:prstGeom prst="rect">
            <a:avLst/>
          </a:prstGeom>
          <a:noFill/>
        </p:spPr>
        <p:txBody>
          <a:bodyPr wrap="square" anchor="t">
            <a:spAutoFit/>
          </a:bodyPr>
          <a:lstStyle/>
          <a:p>
            <a:pPr algn="l">
              <a:lnSpc>
                <a:spcPct val="115000"/>
              </a:lnSpc>
            </a:pPr>
            <a:r>
              <a:rPr sz="1500" b="1">
                <a:solidFill>
                  <a:srgbClr val="0E7C86"/>
                </a:solidFill>
                <a:latin typeface="Calibri"/>
              </a:rPr>
              <a:t>Reduced desk workload</a:t>
            </a:r>
          </a:p>
        </p:txBody>
      </p:sp>
      <p:sp>
        <p:nvSpPr>
          <p:cNvPr id="14" name="TextBox 13"/>
          <p:cNvSpPr txBox="1"/>
          <p:nvPr/>
        </p:nvSpPr>
        <p:spPr>
          <a:xfrm>
            <a:off x="8321040" y="2377440"/>
            <a:ext cx="3063240" cy="914400"/>
          </a:xfrm>
          <a:prstGeom prst="rect">
            <a:avLst/>
          </a:prstGeom>
          <a:noFill/>
        </p:spPr>
        <p:txBody>
          <a:bodyPr wrap="square" anchor="t">
            <a:spAutoFit/>
          </a:bodyPr>
          <a:lstStyle/>
          <a:p>
            <a:pPr algn="l">
              <a:lnSpc>
                <a:spcPct val="115000"/>
              </a:lnSpc>
            </a:pPr>
            <a:r>
              <a:rPr sz="1250" b="0">
                <a:solidFill>
                  <a:srgbClr val="555F6D"/>
                </a:solidFill>
                <a:latin typeface="Calibri"/>
              </a:rPr>
              <a:t>Repetitive questions handled from clinic documents</a:t>
            </a:r>
          </a:p>
        </p:txBody>
      </p:sp>
      <p:sp>
        <p:nvSpPr>
          <p:cNvPr id="15" name="Rounded Rectangle 14"/>
          <p:cNvSpPr/>
          <p:nvPr/>
        </p:nvSpPr>
        <p:spPr>
          <a:xfrm>
            <a:off x="502920" y="3794760"/>
            <a:ext cx="3520440" cy="1874519"/>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6" name="TextBox 15"/>
          <p:cNvSpPr txBox="1"/>
          <p:nvPr/>
        </p:nvSpPr>
        <p:spPr>
          <a:xfrm>
            <a:off x="731520" y="4023360"/>
            <a:ext cx="3063240" cy="457200"/>
          </a:xfrm>
          <a:prstGeom prst="rect">
            <a:avLst/>
          </a:prstGeom>
          <a:noFill/>
        </p:spPr>
        <p:txBody>
          <a:bodyPr wrap="square" anchor="t">
            <a:spAutoFit/>
          </a:bodyPr>
          <a:lstStyle/>
          <a:p>
            <a:pPr algn="l">
              <a:lnSpc>
                <a:spcPct val="115000"/>
              </a:lnSpc>
            </a:pPr>
            <a:r>
              <a:rPr sz="1500" b="1">
                <a:solidFill>
                  <a:srgbClr val="0E7C86"/>
                </a:solidFill>
                <a:latin typeface="Calibri"/>
              </a:rPr>
              <a:t>A record of every call</a:t>
            </a:r>
          </a:p>
        </p:txBody>
      </p:sp>
      <p:sp>
        <p:nvSpPr>
          <p:cNvPr id="17" name="TextBox 16"/>
          <p:cNvSpPr txBox="1"/>
          <p:nvPr/>
        </p:nvSpPr>
        <p:spPr>
          <a:xfrm>
            <a:off x="731520" y="4572000"/>
            <a:ext cx="3063240" cy="914400"/>
          </a:xfrm>
          <a:prstGeom prst="rect">
            <a:avLst/>
          </a:prstGeom>
          <a:noFill/>
        </p:spPr>
        <p:txBody>
          <a:bodyPr wrap="square" anchor="t">
            <a:spAutoFit/>
          </a:bodyPr>
          <a:lstStyle/>
          <a:p>
            <a:pPr algn="l">
              <a:lnSpc>
                <a:spcPct val="115000"/>
              </a:lnSpc>
            </a:pPr>
            <a:r>
              <a:rPr sz="1250" b="0">
                <a:solidFill>
                  <a:srgbClr val="555F6D"/>
                </a:solidFill>
                <a:latin typeface="Calibri"/>
              </a:rPr>
              <a:t>Transcript, summary and outcome — auditable</a:t>
            </a:r>
          </a:p>
        </p:txBody>
      </p:sp>
      <p:sp>
        <p:nvSpPr>
          <p:cNvPr id="18" name="Rounded Rectangle 17"/>
          <p:cNvSpPr/>
          <p:nvPr/>
        </p:nvSpPr>
        <p:spPr>
          <a:xfrm>
            <a:off x="4297680" y="3794760"/>
            <a:ext cx="3520440" cy="1874519"/>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9" name="TextBox 18"/>
          <p:cNvSpPr txBox="1"/>
          <p:nvPr/>
        </p:nvSpPr>
        <p:spPr>
          <a:xfrm>
            <a:off x="4526280" y="4023360"/>
            <a:ext cx="3063240" cy="457200"/>
          </a:xfrm>
          <a:prstGeom prst="rect">
            <a:avLst/>
          </a:prstGeom>
          <a:noFill/>
        </p:spPr>
        <p:txBody>
          <a:bodyPr wrap="square" anchor="t">
            <a:spAutoFit/>
          </a:bodyPr>
          <a:lstStyle/>
          <a:p>
            <a:pPr algn="l">
              <a:lnSpc>
                <a:spcPct val="115000"/>
              </a:lnSpc>
            </a:pPr>
            <a:r>
              <a:rPr sz="1500" b="1">
                <a:solidFill>
                  <a:srgbClr val="0E7C86"/>
                </a:solidFill>
                <a:latin typeface="Calibri"/>
              </a:rPr>
              <a:t>Real-time visibility</a:t>
            </a:r>
          </a:p>
        </p:txBody>
      </p:sp>
      <p:sp>
        <p:nvSpPr>
          <p:cNvPr id="20" name="TextBox 19"/>
          <p:cNvSpPr txBox="1"/>
          <p:nvPr/>
        </p:nvSpPr>
        <p:spPr>
          <a:xfrm>
            <a:off x="4526280" y="4572000"/>
            <a:ext cx="3063240" cy="914400"/>
          </a:xfrm>
          <a:prstGeom prst="rect">
            <a:avLst/>
          </a:prstGeom>
          <a:noFill/>
        </p:spPr>
        <p:txBody>
          <a:bodyPr wrap="square" anchor="t">
            <a:spAutoFit/>
          </a:bodyPr>
          <a:lstStyle/>
          <a:p>
            <a:pPr algn="l">
              <a:lnSpc>
                <a:spcPct val="115000"/>
              </a:lnSpc>
            </a:pPr>
            <a:r>
              <a:rPr sz="1250" b="0">
                <a:solidFill>
                  <a:srgbClr val="555F6D"/>
                </a:solidFill>
                <a:latin typeface="Calibri"/>
              </a:rPr>
              <a:t>Live dashboard of calls and appointments</a:t>
            </a:r>
          </a:p>
        </p:txBody>
      </p:sp>
      <p:sp>
        <p:nvSpPr>
          <p:cNvPr id="21" name="Rounded Rectangle 20"/>
          <p:cNvSpPr/>
          <p:nvPr/>
        </p:nvSpPr>
        <p:spPr>
          <a:xfrm>
            <a:off x="8092440" y="3794760"/>
            <a:ext cx="3520440" cy="1874519"/>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2" name="TextBox 21"/>
          <p:cNvSpPr txBox="1"/>
          <p:nvPr/>
        </p:nvSpPr>
        <p:spPr>
          <a:xfrm>
            <a:off x="8321040" y="4023360"/>
            <a:ext cx="3063240" cy="457200"/>
          </a:xfrm>
          <a:prstGeom prst="rect">
            <a:avLst/>
          </a:prstGeom>
          <a:noFill/>
        </p:spPr>
        <p:txBody>
          <a:bodyPr wrap="square" anchor="t">
            <a:spAutoFit/>
          </a:bodyPr>
          <a:lstStyle/>
          <a:p>
            <a:pPr algn="l">
              <a:lnSpc>
                <a:spcPct val="115000"/>
              </a:lnSpc>
            </a:pPr>
            <a:r>
              <a:rPr sz="1500" b="1">
                <a:solidFill>
                  <a:srgbClr val="0E7C86"/>
                </a:solidFill>
                <a:latin typeface="Calibri"/>
              </a:rPr>
              <a:t>One patient record</a:t>
            </a:r>
          </a:p>
        </p:txBody>
      </p:sp>
      <p:sp>
        <p:nvSpPr>
          <p:cNvPr id="23" name="TextBox 22"/>
          <p:cNvSpPr txBox="1"/>
          <p:nvPr/>
        </p:nvSpPr>
        <p:spPr>
          <a:xfrm>
            <a:off x="8321040" y="4572000"/>
            <a:ext cx="3063240" cy="914400"/>
          </a:xfrm>
          <a:prstGeom prst="rect">
            <a:avLst/>
          </a:prstGeom>
          <a:noFill/>
        </p:spPr>
        <p:txBody>
          <a:bodyPr wrap="square" anchor="t">
            <a:spAutoFit/>
          </a:bodyPr>
          <a:lstStyle/>
          <a:p>
            <a:pPr algn="l">
              <a:lnSpc>
                <a:spcPct val="115000"/>
              </a:lnSpc>
            </a:pPr>
            <a:r>
              <a:rPr sz="1250" b="0">
                <a:solidFill>
                  <a:srgbClr val="555F6D"/>
                </a:solidFill>
                <a:latin typeface="Calibri"/>
              </a:rPr>
              <a:t>Centralised, with a duplicate guard on registration</a:t>
            </a:r>
          </a:p>
        </p:txBody>
      </p:sp>
      <p:sp>
        <p:nvSpPr>
          <p:cNvPr id="24" name="TextBox 23"/>
          <p:cNvSpPr txBox="1"/>
          <p:nvPr/>
        </p:nvSpPr>
        <p:spPr>
          <a:xfrm>
            <a:off x="502920" y="5943600"/>
            <a:ext cx="11155680" cy="411480"/>
          </a:xfrm>
          <a:prstGeom prst="rect">
            <a:avLst/>
          </a:prstGeom>
          <a:noFill/>
        </p:spPr>
        <p:txBody>
          <a:bodyPr wrap="square" anchor="t">
            <a:spAutoFit/>
          </a:bodyPr>
          <a:lstStyle/>
          <a:p>
            <a:pPr algn="l">
              <a:lnSpc>
                <a:spcPct val="115000"/>
              </a:lnSpc>
            </a:pPr>
            <a:r>
              <a:rPr sz="1250" b="0">
                <a:solidFill>
                  <a:srgbClr val="555F6D"/>
                </a:solidFill>
                <a:latin typeface="Calibri"/>
              </a:rPr>
              <a:t>Deliberately not claimed: no uptime guarantee, no clinical decision-making, no call recording.</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Technology Stack</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Only what is actually in the repository</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554480"/>
            <a:ext cx="3520440" cy="201168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7" name="TextBox 6"/>
          <p:cNvSpPr txBox="1"/>
          <p:nvPr/>
        </p:nvSpPr>
        <p:spPr>
          <a:xfrm>
            <a:off x="731520" y="1719072"/>
            <a:ext cx="3063240" cy="411480"/>
          </a:xfrm>
          <a:prstGeom prst="rect">
            <a:avLst/>
          </a:prstGeom>
          <a:noFill/>
        </p:spPr>
        <p:txBody>
          <a:bodyPr wrap="square" anchor="t">
            <a:spAutoFit/>
          </a:bodyPr>
          <a:lstStyle/>
          <a:p>
            <a:pPr algn="l">
              <a:lnSpc>
                <a:spcPct val="115000"/>
              </a:lnSpc>
            </a:pPr>
            <a:r>
              <a:rPr sz="1500" b="1">
                <a:solidFill>
                  <a:srgbClr val="0E7C86"/>
                </a:solidFill>
                <a:latin typeface="Calibri"/>
              </a:rPr>
              <a:t>Frontend</a:t>
            </a:r>
          </a:p>
        </p:txBody>
      </p:sp>
      <p:sp>
        <p:nvSpPr>
          <p:cNvPr id="8" name="TextBox 7"/>
          <p:cNvSpPr txBox="1"/>
          <p:nvPr/>
        </p:nvSpPr>
        <p:spPr>
          <a:xfrm>
            <a:off x="731520" y="2194560"/>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React 19</a:t>
            </a:r>
          </a:p>
        </p:txBody>
      </p:sp>
      <p:sp>
        <p:nvSpPr>
          <p:cNvPr id="9" name="TextBox 8"/>
          <p:cNvSpPr txBox="1"/>
          <p:nvPr/>
        </p:nvSpPr>
        <p:spPr>
          <a:xfrm>
            <a:off x="731520" y="2523744"/>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Vite</a:t>
            </a:r>
          </a:p>
        </p:txBody>
      </p:sp>
      <p:sp>
        <p:nvSpPr>
          <p:cNvPr id="10" name="TextBox 9"/>
          <p:cNvSpPr txBox="1"/>
          <p:nvPr/>
        </p:nvSpPr>
        <p:spPr>
          <a:xfrm>
            <a:off x="731520" y="2852928"/>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React Router 7</a:t>
            </a:r>
          </a:p>
        </p:txBody>
      </p:sp>
      <p:sp>
        <p:nvSpPr>
          <p:cNvPr id="11" name="TextBox 10"/>
          <p:cNvSpPr txBox="1"/>
          <p:nvPr/>
        </p:nvSpPr>
        <p:spPr>
          <a:xfrm>
            <a:off x="731520" y="3182112"/>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Tailwind v4</a:t>
            </a:r>
          </a:p>
        </p:txBody>
      </p:sp>
      <p:sp>
        <p:nvSpPr>
          <p:cNvPr id="12" name="Rounded Rectangle 11"/>
          <p:cNvSpPr/>
          <p:nvPr/>
        </p:nvSpPr>
        <p:spPr>
          <a:xfrm>
            <a:off x="4297680" y="1554480"/>
            <a:ext cx="3520440" cy="201168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3" name="TextBox 12"/>
          <p:cNvSpPr txBox="1"/>
          <p:nvPr/>
        </p:nvSpPr>
        <p:spPr>
          <a:xfrm>
            <a:off x="4526280" y="1719072"/>
            <a:ext cx="3063240" cy="411480"/>
          </a:xfrm>
          <a:prstGeom prst="rect">
            <a:avLst/>
          </a:prstGeom>
          <a:noFill/>
        </p:spPr>
        <p:txBody>
          <a:bodyPr wrap="square" anchor="t">
            <a:spAutoFit/>
          </a:bodyPr>
          <a:lstStyle/>
          <a:p>
            <a:pPr algn="l">
              <a:lnSpc>
                <a:spcPct val="115000"/>
              </a:lnSpc>
            </a:pPr>
            <a:r>
              <a:rPr sz="1500" b="1">
                <a:solidFill>
                  <a:srgbClr val="0E7C86"/>
                </a:solidFill>
                <a:latin typeface="Calibri"/>
              </a:rPr>
              <a:t>Backend</a:t>
            </a:r>
          </a:p>
        </p:txBody>
      </p:sp>
      <p:sp>
        <p:nvSpPr>
          <p:cNvPr id="14" name="TextBox 13"/>
          <p:cNvSpPr txBox="1"/>
          <p:nvPr/>
        </p:nvSpPr>
        <p:spPr>
          <a:xfrm>
            <a:off x="4526280" y="2194560"/>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FastAPI</a:t>
            </a:r>
          </a:p>
        </p:txBody>
      </p:sp>
      <p:sp>
        <p:nvSpPr>
          <p:cNvPr id="15" name="TextBox 14"/>
          <p:cNvSpPr txBox="1"/>
          <p:nvPr/>
        </p:nvSpPr>
        <p:spPr>
          <a:xfrm>
            <a:off x="4526280" y="2523744"/>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SQLAlchemy 2.0</a:t>
            </a:r>
          </a:p>
        </p:txBody>
      </p:sp>
      <p:sp>
        <p:nvSpPr>
          <p:cNvPr id="16" name="TextBox 15"/>
          <p:cNvSpPr txBox="1"/>
          <p:nvPr/>
        </p:nvSpPr>
        <p:spPr>
          <a:xfrm>
            <a:off x="4526280" y="2852928"/>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Alembic</a:t>
            </a:r>
          </a:p>
        </p:txBody>
      </p:sp>
      <p:sp>
        <p:nvSpPr>
          <p:cNvPr id="17" name="TextBox 16"/>
          <p:cNvSpPr txBox="1"/>
          <p:nvPr/>
        </p:nvSpPr>
        <p:spPr>
          <a:xfrm>
            <a:off x="4526280" y="3182112"/>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Pydantic</a:t>
            </a:r>
          </a:p>
        </p:txBody>
      </p:sp>
      <p:sp>
        <p:nvSpPr>
          <p:cNvPr id="18" name="Rounded Rectangle 17"/>
          <p:cNvSpPr/>
          <p:nvPr/>
        </p:nvSpPr>
        <p:spPr>
          <a:xfrm>
            <a:off x="8092440" y="1554480"/>
            <a:ext cx="3520440" cy="201168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19" name="TextBox 18"/>
          <p:cNvSpPr txBox="1"/>
          <p:nvPr/>
        </p:nvSpPr>
        <p:spPr>
          <a:xfrm>
            <a:off x="8321040" y="1719072"/>
            <a:ext cx="3063240" cy="411480"/>
          </a:xfrm>
          <a:prstGeom prst="rect">
            <a:avLst/>
          </a:prstGeom>
          <a:noFill/>
        </p:spPr>
        <p:txBody>
          <a:bodyPr wrap="square" anchor="t">
            <a:spAutoFit/>
          </a:bodyPr>
          <a:lstStyle/>
          <a:p>
            <a:pPr algn="l">
              <a:lnSpc>
                <a:spcPct val="115000"/>
              </a:lnSpc>
            </a:pPr>
            <a:r>
              <a:rPr sz="1500" b="1">
                <a:solidFill>
                  <a:srgbClr val="0E7C86"/>
                </a:solidFill>
                <a:latin typeface="Calibri"/>
              </a:rPr>
              <a:t>Database</a:t>
            </a:r>
          </a:p>
        </p:txBody>
      </p:sp>
      <p:sp>
        <p:nvSpPr>
          <p:cNvPr id="20" name="TextBox 19"/>
          <p:cNvSpPr txBox="1"/>
          <p:nvPr/>
        </p:nvSpPr>
        <p:spPr>
          <a:xfrm>
            <a:off x="8321040" y="2194560"/>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SQL Server 2022</a:t>
            </a:r>
          </a:p>
        </p:txBody>
      </p:sp>
      <p:sp>
        <p:nvSpPr>
          <p:cNvPr id="21" name="TextBox 20"/>
          <p:cNvSpPr txBox="1"/>
          <p:nvPr/>
        </p:nvSpPr>
        <p:spPr>
          <a:xfrm>
            <a:off x="8321040" y="2523744"/>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pyodbc</a:t>
            </a:r>
          </a:p>
        </p:txBody>
      </p:sp>
      <p:sp>
        <p:nvSpPr>
          <p:cNvPr id="22" name="TextBox 21"/>
          <p:cNvSpPr txBox="1"/>
          <p:nvPr/>
        </p:nvSpPr>
        <p:spPr>
          <a:xfrm>
            <a:off x="8321040" y="2852928"/>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39 tables</a:t>
            </a:r>
          </a:p>
        </p:txBody>
      </p:sp>
      <p:sp>
        <p:nvSpPr>
          <p:cNvPr id="23" name="Rounded Rectangle 22"/>
          <p:cNvSpPr/>
          <p:nvPr/>
        </p:nvSpPr>
        <p:spPr>
          <a:xfrm>
            <a:off x="502920" y="3840480"/>
            <a:ext cx="3520440" cy="201168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4" name="TextBox 23"/>
          <p:cNvSpPr txBox="1"/>
          <p:nvPr/>
        </p:nvSpPr>
        <p:spPr>
          <a:xfrm>
            <a:off x="731520" y="4005072"/>
            <a:ext cx="3063240" cy="411480"/>
          </a:xfrm>
          <a:prstGeom prst="rect">
            <a:avLst/>
          </a:prstGeom>
          <a:noFill/>
        </p:spPr>
        <p:txBody>
          <a:bodyPr wrap="square" anchor="t">
            <a:spAutoFit/>
          </a:bodyPr>
          <a:lstStyle/>
          <a:p>
            <a:pPr algn="l">
              <a:lnSpc>
                <a:spcPct val="115000"/>
              </a:lnSpc>
            </a:pPr>
            <a:r>
              <a:rPr sz="1500" b="1">
                <a:solidFill>
                  <a:srgbClr val="0E7C86"/>
                </a:solidFill>
                <a:latin typeface="Calibri"/>
              </a:rPr>
              <a:t>Voice</a:t>
            </a:r>
          </a:p>
        </p:txBody>
      </p:sp>
      <p:sp>
        <p:nvSpPr>
          <p:cNvPr id="25" name="TextBox 24"/>
          <p:cNvSpPr txBox="1"/>
          <p:nvPr/>
        </p:nvSpPr>
        <p:spPr>
          <a:xfrm>
            <a:off x="731520" y="4480560"/>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Twilio Media Streams</a:t>
            </a:r>
          </a:p>
        </p:txBody>
      </p:sp>
      <p:sp>
        <p:nvSpPr>
          <p:cNvPr id="26" name="TextBox 25"/>
          <p:cNvSpPr txBox="1"/>
          <p:nvPr/>
        </p:nvSpPr>
        <p:spPr>
          <a:xfrm>
            <a:off x="731520" y="4809744"/>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Deepgram STT</a:t>
            </a:r>
          </a:p>
        </p:txBody>
      </p:sp>
      <p:sp>
        <p:nvSpPr>
          <p:cNvPr id="27" name="TextBox 26"/>
          <p:cNvSpPr txBox="1"/>
          <p:nvPr/>
        </p:nvSpPr>
        <p:spPr>
          <a:xfrm>
            <a:off x="731520" y="5138928"/>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Groq LLM</a:t>
            </a:r>
          </a:p>
        </p:txBody>
      </p:sp>
      <p:sp>
        <p:nvSpPr>
          <p:cNvPr id="28" name="TextBox 27"/>
          <p:cNvSpPr txBox="1"/>
          <p:nvPr/>
        </p:nvSpPr>
        <p:spPr>
          <a:xfrm>
            <a:off x="731520" y="5468112"/>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Sarvam TTS</a:t>
            </a:r>
          </a:p>
        </p:txBody>
      </p:sp>
      <p:sp>
        <p:nvSpPr>
          <p:cNvPr id="29" name="Rounded Rectangle 28"/>
          <p:cNvSpPr/>
          <p:nvPr/>
        </p:nvSpPr>
        <p:spPr>
          <a:xfrm>
            <a:off x="4297680" y="3840480"/>
            <a:ext cx="3520440" cy="201168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0" name="TextBox 29"/>
          <p:cNvSpPr txBox="1"/>
          <p:nvPr/>
        </p:nvSpPr>
        <p:spPr>
          <a:xfrm>
            <a:off x="4526280" y="4005072"/>
            <a:ext cx="3063240" cy="411480"/>
          </a:xfrm>
          <a:prstGeom prst="rect">
            <a:avLst/>
          </a:prstGeom>
          <a:noFill/>
        </p:spPr>
        <p:txBody>
          <a:bodyPr wrap="square" anchor="t">
            <a:spAutoFit/>
          </a:bodyPr>
          <a:lstStyle/>
          <a:p>
            <a:pPr algn="l">
              <a:lnSpc>
                <a:spcPct val="115000"/>
              </a:lnSpc>
            </a:pPr>
            <a:r>
              <a:rPr sz="1500" b="1">
                <a:solidFill>
                  <a:srgbClr val="0E7C86"/>
                </a:solidFill>
                <a:latin typeface="Calibri"/>
              </a:rPr>
              <a:t>AI / Search</a:t>
            </a:r>
          </a:p>
        </p:txBody>
      </p:sp>
      <p:sp>
        <p:nvSpPr>
          <p:cNvPr id="31" name="TextBox 30"/>
          <p:cNvSpPr txBox="1"/>
          <p:nvPr/>
        </p:nvSpPr>
        <p:spPr>
          <a:xfrm>
            <a:off x="4526280" y="4480560"/>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fastembed + ONNX</a:t>
            </a:r>
          </a:p>
        </p:txBody>
      </p:sp>
      <p:sp>
        <p:nvSpPr>
          <p:cNvPr id="32" name="TextBox 31"/>
          <p:cNvSpPr txBox="1"/>
          <p:nvPr/>
        </p:nvSpPr>
        <p:spPr>
          <a:xfrm>
            <a:off x="4526280" y="4809744"/>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BGE-small embeddings</a:t>
            </a:r>
          </a:p>
        </p:txBody>
      </p:sp>
      <p:sp>
        <p:nvSpPr>
          <p:cNvPr id="33" name="TextBox 32"/>
          <p:cNvSpPr txBox="1"/>
          <p:nvPr/>
        </p:nvSpPr>
        <p:spPr>
          <a:xfrm>
            <a:off x="4526280" y="5138928"/>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local — never leaves</a:t>
            </a:r>
          </a:p>
        </p:txBody>
      </p:sp>
      <p:sp>
        <p:nvSpPr>
          <p:cNvPr id="34" name="Rounded Rectangle 33"/>
          <p:cNvSpPr/>
          <p:nvPr/>
        </p:nvSpPr>
        <p:spPr>
          <a:xfrm>
            <a:off x="8092440" y="3840480"/>
            <a:ext cx="3520440" cy="201168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5" name="TextBox 34"/>
          <p:cNvSpPr txBox="1"/>
          <p:nvPr/>
        </p:nvSpPr>
        <p:spPr>
          <a:xfrm>
            <a:off x="8321040" y="4005072"/>
            <a:ext cx="3063240" cy="411480"/>
          </a:xfrm>
          <a:prstGeom prst="rect">
            <a:avLst/>
          </a:prstGeom>
          <a:noFill/>
        </p:spPr>
        <p:txBody>
          <a:bodyPr wrap="square" anchor="t">
            <a:spAutoFit/>
          </a:bodyPr>
          <a:lstStyle/>
          <a:p>
            <a:pPr algn="l">
              <a:lnSpc>
                <a:spcPct val="115000"/>
              </a:lnSpc>
            </a:pPr>
            <a:r>
              <a:rPr sz="1500" b="1">
                <a:solidFill>
                  <a:srgbClr val="0E7C86"/>
                </a:solidFill>
                <a:latin typeface="Calibri"/>
              </a:rPr>
              <a:t>Payments</a:t>
            </a:r>
          </a:p>
        </p:txBody>
      </p:sp>
      <p:sp>
        <p:nvSpPr>
          <p:cNvPr id="36" name="TextBox 35"/>
          <p:cNvSpPr txBox="1"/>
          <p:nvPr/>
        </p:nvSpPr>
        <p:spPr>
          <a:xfrm>
            <a:off x="8321040" y="4480560"/>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Razorpay</a:t>
            </a:r>
          </a:p>
        </p:txBody>
      </p:sp>
      <p:sp>
        <p:nvSpPr>
          <p:cNvPr id="37" name="TextBox 36"/>
          <p:cNvSpPr txBox="1"/>
          <p:nvPr/>
        </p:nvSpPr>
        <p:spPr>
          <a:xfrm>
            <a:off x="8321040" y="4809744"/>
            <a:ext cx="3063240" cy="292608"/>
          </a:xfrm>
          <a:prstGeom prst="rect">
            <a:avLst/>
          </a:prstGeom>
          <a:noFill/>
        </p:spPr>
        <p:txBody>
          <a:bodyPr wrap="square" anchor="t">
            <a:spAutoFit/>
          </a:bodyPr>
          <a:lstStyle/>
          <a:p>
            <a:pPr algn="l">
              <a:lnSpc>
                <a:spcPct val="115000"/>
              </a:lnSpc>
            </a:pPr>
            <a:r>
              <a:rPr sz="1250" b="0">
                <a:solidFill>
                  <a:srgbClr val="0F172A"/>
                </a:solidFill>
                <a:latin typeface="Calibri"/>
              </a:rPr>
              <a:t>·  (not yet configured)</a:t>
            </a:r>
          </a:p>
        </p:txBody>
      </p:sp>
      <p:sp>
        <p:nvSpPr>
          <p:cNvPr id="38" name="TextBox 37"/>
          <p:cNvSpPr txBox="1"/>
          <p:nvPr/>
        </p:nvSpPr>
        <p:spPr>
          <a:xfrm>
            <a:off x="502920" y="6080760"/>
            <a:ext cx="11155680" cy="365760"/>
          </a:xfrm>
          <a:prstGeom prst="rect">
            <a:avLst/>
          </a:prstGeom>
          <a:noFill/>
        </p:spPr>
        <p:txBody>
          <a:bodyPr wrap="square" anchor="t">
            <a:spAutoFit/>
          </a:bodyPr>
          <a:lstStyle/>
          <a:p>
            <a:pPr algn="l">
              <a:lnSpc>
                <a:spcPct val="115000"/>
              </a:lnSpc>
            </a:pPr>
            <a:r>
              <a:rPr sz="1250" b="0">
                <a:solidFill>
                  <a:srgbClr val="555F6D"/>
                </a:solidFill>
                <a:latin typeface="Calibri"/>
              </a:rPr>
              <a:t>Knowledge-base embeddings run on our own server — clinic documents and patient questions never leave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05156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02920" y="182880"/>
            <a:ext cx="9601200" cy="457200"/>
          </a:xfrm>
          <a:prstGeom prst="rect">
            <a:avLst/>
          </a:prstGeom>
          <a:noFill/>
        </p:spPr>
        <p:txBody>
          <a:bodyPr wrap="square" anchor="t">
            <a:spAutoFit/>
          </a:bodyPr>
          <a:lstStyle/>
          <a:p>
            <a:pPr algn="l">
              <a:lnSpc>
                <a:spcPct val="115000"/>
              </a:lnSpc>
            </a:pPr>
            <a:r>
              <a:rPr sz="2600" b="1">
                <a:solidFill>
                  <a:srgbClr val="FFFFFF"/>
                </a:solidFill>
                <a:latin typeface="Calibri"/>
              </a:rPr>
              <a:t>Implementation Status</a:t>
            </a:r>
          </a:p>
        </p:txBody>
      </p:sp>
      <p:sp>
        <p:nvSpPr>
          <p:cNvPr id="4" name="TextBox 3"/>
          <p:cNvSpPr txBox="1"/>
          <p:nvPr/>
        </p:nvSpPr>
        <p:spPr>
          <a:xfrm>
            <a:off x="502920" y="658368"/>
            <a:ext cx="10515600" cy="320040"/>
          </a:xfrm>
          <a:prstGeom prst="rect">
            <a:avLst/>
          </a:prstGeom>
          <a:noFill/>
        </p:spPr>
        <p:txBody>
          <a:bodyPr wrap="square" anchor="t">
            <a:spAutoFit/>
          </a:bodyPr>
          <a:lstStyle/>
          <a:p>
            <a:pPr algn="l">
              <a:lnSpc>
                <a:spcPct val="115000"/>
              </a:lnSpc>
            </a:pPr>
            <a:r>
              <a:rPr sz="1200" b="0">
                <a:solidFill>
                  <a:srgbClr val="E8F1F2"/>
                </a:solidFill>
                <a:latin typeface="Calibri"/>
              </a:rPr>
              <a:t>An honest picture</a:t>
            </a:r>
          </a:p>
        </p:txBody>
      </p:sp>
      <p:sp>
        <p:nvSpPr>
          <p:cNvPr id="5" name="TextBox 4"/>
          <p:cNvSpPr txBox="1"/>
          <p:nvPr/>
        </p:nvSpPr>
        <p:spPr>
          <a:xfrm>
            <a:off x="9966960" y="301752"/>
            <a:ext cx="1828800" cy="292259"/>
          </a:xfrm>
          <a:prstGeom prst="rect">
            <a:avLst/>
          </a:prstGeom>
          <a:noFill/>
        </p:spPr>
        <p:txBody>
          <a:bodyPr wrap="square" anchor="t">
            <a:spAutoFit/>
          </a:bodyPr>
          <a:lstStyle/>
          <a:p>
            <a:pPr algn="r">
              <a:lnSpc>
                <a:spcPct val="115000"/>
              </a:lnSpc>
            </a:pPr>
            <a:r>
              <a:rPr lang="en-IN" sz="1200" b="1" dirty="0" err="1">
                <a:solidFill>
                  <a:srgbClr val="E8F1F2"/>
                </a:solidFill>
                <a:latin typeface="Calibri"/>
              </a:rPr>
              <a:t>MediCOR</a:t>
            </a:r>
            <a:r>
              <a:rPr lang="en-IN" sz="1200" b="1" dirty="0">
                <a:solidFill>
                  <a:srgbClr val="E8F1F2"/>
                </a:solidFill>
                <a:latin typeface="Calibri"/>
              </a:rPr>
              <a:t> AI</a:t>
            </a:r>
            <a:endParaRPr sz="1200" b="1" dirty="0">
              <a:solidFill>
                <a:srgbClr val="E8F1F2"/>
              </a:solidFill>
              <a:latin typeface="Calibri"/>
            </a:endParaRPr>
          </a:p>
        </p:txBody>
      </p:sp>
      <p:sp>
        <p:nvSpPr>
          <p:cNvPr id="6" name="Rounded Rectangle 5"/>
          <p:cNvSpPr/>
          <p:nvPr/>
        </p:nvSpPr>
        <p:spPr>
          <a:xfrm>
            <a:off x="502920" y="1508760"/>
            <a:ext cx="3611880" cy="448056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7" name="Rectangle 6"/>
          <p:cNvSpPr/>
          <p:nvPr/>
        </p:nvSpPr>
        <p:spPr>
          <a:xfrm>
            <a:off x="502920" y="1508760"/>
            <a:ext cx="3611880" cy="109728"/>
          </a:xfrm>
          <a:prstGeom prst="rect">
            <a:avLst/>
          </a:prstGeom>
          <a:solidFill>
            <a:srgbClr val="1B7F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04088" y="1737360"/>
            <a:ext cx="3200400" cy="411480"/>
          </a:xfrm>
          <a:prstGeom prst="rect">
            <a:avLst/>
          </a:prstGeom>
          <a:noFill/>
        </p:spPr>
        <p:txBody>
          <a:bodyPr wrap="square" anchor="t">
            <a:spAutoFit/>
          </a:bodyPr>
          <a:lstStyle/>
          <a:p>
            <a:pPr algn="l">
              <a:lnSpc>
                <a:spcPct val="115000"/>
              </a:lnSpc>
            </a:pPr>
            <a:r>
              <a:rPr sz="1300" b="1">
                <a:solidFill>
                  <a:srgbClr val="1B7F4B"/>
                </a:solidFill>
                <a:latin typeface="Calibri"/>
              </a:rPr>
              <a:t>FULLY IMPLEMENTED</a:t>
            </a:r>
          </a:p>
        </p:txBody>
      </p:sp>
      <p:sp>
        <p:nvSpPr>
          <p:cNvPr id="9" name="TextBox 8"/>
          <p:cNvSpPr txBox="1"/>
          <p:nvPr/>
        </p:nvSpPr>
        <p:spPr>
          <a:xfrm>
            <a:off x="704088" y="2240280"/>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Authentication, JWT, roles</a:t>
            </a:r>
          </a:p>
        </p:txBody>
      </p:sp>
      <p:sp>
        <p:nvSpPr>
          <p:cNvPr id="10" name="TextBox 9"/>
          <p:cNvSpPr txBox="1"/>
          <p:nvPr/>
        </p:nvSpPr>
        <p:spPr>
          <a:xfrm>
            <a:off x="704088" y="2624328"/>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Patients — CRUD, search, duplicate guard</a:t>
            </a:r>
          </a:p>
        </p:txBody>
      </p:sp>
      <p:sp>
        <p:nvSpPr>
          <p:cNvPr id="11" name="TextBox 10"/>
          <p:cNvSpPr txBox="1"/>
          <p:nvPr/>
        </p:nvSpPr>
        <p:spPr>
          <a:xfrm>
            <a:off x="704088" y="3008376"/>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Appointments — book / move / cancel</a:t>
            </a:r>
          </a:p>
        </p:txBody>
      </p:sp>
      <p:sp>
        <p:nvSpPr>
          <p:cNvPr id="12" name="TextBox 11"/>
          <p:cNvSpPr txBox="1"/>
          <p:nvPr/>
        </p:nvSpPr>
        <p:spPr>
          <a:xfrm>
            <a:off x="704088" y="3392424"/>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Call logs, transcripts, summaries</a:t>
            </a:r>
          </a:p>
        </p:txBody>
      </p:sp>
      <p:sp>
        <p:nvSpPr>
          <p:cNvPr id="13" name="TextBox 12"/>
          <p:cNvSpPr txBox="1"/>
          <p:nvPr/>
        </p:nvSpPr>
        <p:spPr>
          <a:xfrm>
            <a:off x="704088" y="3776472"/>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Audit trail</a:t>
            </a:r>
          </a:p>
        </p:txBody>
      </p:sp>
      <p:sp>
        <p:nvSpPr>
          <p:cNvPr id="14" name="TextBox 13"/>
          <p:cNvSpPr txBox="1"/>
          <p:nvPr/>
        </p:nvSpPr>
        <p:spPr>
          <a:xfrm>
            <a:off x="704088" y="4160520"/>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Real-time dashboard</a:t>
            </a:r>
          </a:p>
        </p:txBody>
      </p:sp>
      <p:sp>
        <p:nvSpPr>
          <p:cNvPr id="15" name="TextBox 14"/>
          <p:cNvSpPr txBox="1"/>
          <p:nvPr/>
        </p:nvSpPr>
        <p:spPr>
          <a:xfrm>
            <a:off x="704088" y="4544568"/>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Knowledge base + local search</a:t>
            </a:r>
          </a:p>
        </p:txBody>
      </p:sp>
      <p:sp>
        <p:nvSpPr>
          <p:cNvPr id="16" name="TextBox 15"/>
          <p:cNvSpPr txBox="1"/>
          <p:nvPr/>
        </p:nvSpPr>
        <p:spPr>
          <a:xfrm>
            <a:off x="704088" y="4928616"/>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Multi-tenancy</a:t>
            </a:r>
          </a:p>
        </p:txBody>
      </p:sp>
      <p:sp>
        <p:nvSpPr>
          <p:cNvPr id="17" name="TextBox 16"/>
          <p:cNvSpPr txBox="1"/>
          <p:nvPr/>
        </p:nvSpPr>
        <p:spPr>
          <a:xfrm>
            <a:off x="704088" y="5312664"/>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Scheduled jobs</a:t>
            </a:r>
          </a:p>
        </p:txBody>
      </p:sp>
      <p:sp>
        <p:nvSpPr>
          <p:cNvPr id="18" name="TextBox 17"/>
          <p:cNvSpPr txBox="1"/>
          <p:nvPr/>
        </p:nvSpPr>
        <p:spPr>
          <a:xfrm>
            <a:off x="704088" y="5696712"/>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Outbound webhooks</a:t>
            </a:r>
          </a:p>
        </p:txBody>
      </p:sp>
      <p:sp>
        <p:nvSpPr>
          <p:cNvPr id="19" name="Rounded Rectangle 18"/>
          <p:cNvSpPr/>
          <p:nvPr/>
        </p:nvSpPr>
        <p:spPr>
          <a:xfrm>
            <a:off x="4389120" y="1508760"/>
            <a:ext cx="3611880" cy="448056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20" name="Rectangle 19"/>
          <p:cNvSpPr/>
          <p:nvPr/>
        </p:nvSpPr>
        <p:spPr>
          <a:xfrm>
            <a:off x="4389120" y="1508760"/>
            <a:ext cx="3611880" cy="109728"/>
          </a:xfrm>
          <a:prstGeom prst="rect">
            <a:avLst/>
          </a:prstGeom>
          <a:solidFill>
            <a:srgbClr val="B46E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590288" y="1737360"/>
            <a:ext cx="3200400" cy="411480"/>
          </a:xfrm>
          <a:prstGeom prst="rect">
            <a:avLst/>
          </a:prstGeom>
          <a:noFill/>
        </p:spPr>
        <p:txBody>
          <a:bodyPr wrap="square" anchor="t">
            <a:spAutoFit/>
          </a:bodyPr>
          <a:lstStyle/>
          <a:p>
            <a:pPr algn="l">
              <a:lnSpc>
                <a:spcPct val="115000"/>
              </a:lnSpc>
            </a:pPr>
            <a:r>
              <a:rPr sz="1300" b="1">
                <a:solidFill>
                  <a:srgbClr val="B46E00"/>
                </a:solidFill>
                <a:latin typeface="Calibri"/>
              </a:rPr>
              <a:t>CONFIGURATION DEPENDENT</a:t>
            </a:r>
          </a:p>
        </p:txBody>
      </p:sp>
      <p:sp>
        <p:nvSpPr>
          <p:cNvPr id="22" name="TextBox 21"/>
          <p:cNvSpPr txBox="1"/>
          <p:nvPr/>
        </p:nvSpPr>
        <p:spPr>
          <a:xfrm>
            <a:off x="4590288" y="2240280"/>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Voice gateway — code complete,</a:t>
            </a:r>
          </a:p>
        </p:txBody>
      </p:sp>
      <p:sp>
        <p:nvSpPr>
          <p:cNvPr id="23" name="TextBox 22"/>
          <p:cNvSpPr txBox="1"/>
          <p:nvPr/>
        </p:nvSpPr>
        <p:spPr>
          <a:xfrm>
            <a:off x="4590288" y="2624328"/>
            <a:ext cx="3200400" cy="347472"/>
          </a:xfrm>
          <a:prstGeom prst="rect">
            <a:avLst/>
          </a:prstGeom>
          <a:noFill/>
        </p:spPr>
        <p:txBody>
          <a:bodyPr wrap="square" anchor="t">
            <a:spAutoFit/>
          </a:bodyPr>
          <a:lstStyle/>
          <a:p>
            <a:pPr algn="l">
              <a:lnSpc>
                <a:spcPct val="115000"/>
              </a:lnSpc>
            </a:pPr>
            <a:r>
              <a:rPr sz="1150" b="0">
                <a:solidFill>
                  <a:srgbClr val="555F6D"/>
                </a:solidFill>
                <a:latin typeface="Calibri"/>
              </a:rPr>
              <a:t>   API keys not purchased</a:t>
            </a:r>
          </a:p>
        </p:txBody>
      </p:sp>
      <p:sp>
        <p:nvSpPr>
          <p:cNvPr id="24" name="TextBox 23"/>
          <p:cNvSpPr txBox="1"/>
          <p:nvPr/>
        </p:nvSpPr>
        <p:spPr>
          <a:xfrm>
            <a:off x="4590288" y="3008376"/>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Razorpay — built and tested,</a:t>
            </a:r>
          </a:p>
        </p:txBody>
      </p:sp>
      <p:sp>
        <p:nvSpPr>
          <p:cNvPr id="25" name="TextBox 24"/>
          <p:cNvSpPr txBox="1"/>
          <p:nvPr/>
        </p:nvSpPr>
        <p:spPr>
          <a:xfrm>
            <a:off x="4590288" y="3392424"/>
            <a:ext cx="3200400" cy="347472"/>
          </a:xfrm>
          <a:prstGeom prst="rect">
            <a:avLst/>
          </a:prstGeom>
          <a:noFill/>
        </p:spPr>
        <p:txBody>
          <a:bodyPr wrap="square" anchor="t">
            <a:spAutoFit/>
          </a:bodyPr>
          <a:lstStyle/>
          <a:p>
            <a:pPr algn="l">
              <a:lnSpc>
                <a:spcPct val="115000"/>
              </a:lnSpc>
            </a:pPr>
            <a:r>
              <a:rPr sz="1150" b="0">
                <a:solidFill>
                  <a:srgbClr val="555F6D"/>
                </a:solidFill>
                <a:latin typeface="Calibri"/>
              </a:rPr>
              <a:t>   keys not configured</a:t>
            </a:r>
          </a:p>
        </p:txBody>
      </p:sp>
      <p:sp>
        <p:nvSpPr>
          <p:cNvPr id="26" name="TextBox 25"/>
          <p:cNvSpPr txBox="1"/>
          <p:nvPr/>
        </p:nvSpPr>
        <p:spPr>
          <a:xfrm>
            <a:off x="4590288" y="3776472"/>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EHR — generic gateway,</a:t>
            </a:r>
          </a:p>
        </p:txBody>
      </p:sp>
      <p:sp>
        <p:nvSpPr>
          <p:cNvPr id="27" name="TextBox 26"/>
          <p:cNvSpPr txBox="1"/>
          <p:nvPr/>
        </p:nvSpPr>
        <p:spPr>
          <a:xfrm>
            <a:off x="4590288" y="4160520"/>
            <a:ext cx="3200400" cy="347472"/>
          </a:xfrm>
          <a:prstGeom prst="rect">
            <a:avLst/>
          </a:prstGeom>
          <a:noFill/>
        </p:spPr>
        <p:txBody>
          <a:bodyPr wrap="square" anchor="t">
            <a:spAutoFit/>
          </a:bodyPr>
          <a:lstStyle/>
          <a:p>
            <a:pPr algn="l">
              <a:lnSpc>
                <a:spcPct val="115000"/>
              </a:lnSpc>
            </a:pPr>
            <a:r>
              <a:rPr sz="1150" b="0">
                <a:solidFill>
                  <a:srgbClr val="555F6D"/>
                </a:solidFill>
                <a:latin typeface="Calibri"/>
              </a:rPr>
              <a:t>   no vendor connected</a:t>
            </a:r>
          </a:p>
        </p:txBody>
      </p:sp>
      <p:sp>
        <p:nvSpPr>
          <p:cNvPr id="28" name="TextBox 27"/>
          <p:cNvSpPr txBox="1"/>
          <p:nvPr/>
        </p:nvSpPr>
        <p:spPr>
          <a:xfrm>
            <a:off x="4590288" y="4544568"/>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SMS / WhatsApp / email</a:t>
            </a:r>
          </a:p>
        </p:txBody>
      </p:sp>
      <p:sp>
        <p:nvSpPr>
          <p:cNvPr id="29" name="TextBox 28"/>
          <p:cNvSpPr txBox="1"/>
          <p:nvPr/>
        </p:nvSpPr>
        <p:spPr>
          <a:xfrm>
            <a:off x="4590288" y="4928616"/>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Auto call-quality scoring (off)</a:t>
            </a:r>
          </a:p>
        </p:txBody>
      </p:sp>
      <p:sp>
        <p:nvSpPr>
          <p:cNvPr id="30" name="Rounded Rectangle 29"/>
          <p:cNvSpPr/>
          <p:nvPr/>
        </p:nvSpPr>
        <p:spPr>
          <a:xfrm>
            <a:off x="8275320" y="1508760"/>
            <a:ext cx="3611880" cy="4480560"/>
          </a:xfrm>
          <a:prstGeom prst="roundRect">
            <a:avLst/>
          </a:prstGeom>
          <a:solidFill>
            <a:srgbClr val="FFFFFF"/>
          </a:solidFill>
          <a:ln w="15875">
            <a:solidFill>
              <a:srgbClr val="E8F1F2"/>
            </a:solid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endParaRPr/>
          </a:p>
        </p:txBody>
      </p:sp>
      <p:sp>
        <p:nvSpPr>
          <p:cNvPr id="31" name="Rectangle 30"/>
          <p:cNvSpPr/>
          <p:nvPr/>
        </p:nvSpPr>
        <p:spPr>
          <a:xfrm>
            <a:off x="8275320" y="1508760"/>
            <a:ext cx="3611880" cy="109728"/>
          </a:xfrm>
          <a:prstGeom prst="rect">
            <a:avLst/>
          </a:prstGeom>
          <a:solidFill>
            <a:srgbClr val="B02A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476488" y="1737360"/>
            <a:ext cx="3200400" cy="411480"/>
          </a:xfrm>
          <a:prstGeom prst="rect">
            <a:avLst/>
          </a:prstGeom>
          <a:noFill/>
        </p:spPr>
        <p:txBody>
          <a:bodyPr wrap="square" anchor="t">
            <a:spAutoFit/>
          </a:bodyPr>
          <a:lstStyle/>
          <a:p>
            <a:pPr algn="l">
              <a:lnSpc>
                <a:spcPct val="115000"/>
              </a:lnSpc>
            </a:pPr>
            <a:r>
              <a:rPr sz="1300" b="1">
                <a:solidFill>
                  <a:srgbClr val="B02A2A"/>
                </a:solidFill>
                <a:latin typeface="Calibri"/>
              </a:rPr>
              <a:t>NOT IMPLEMENTED</a:t>
            </a:r>
          </a:p>
        </p:txBody>
      </p:sp>
      <p:sp>
        <p:nvSpPr>
          <p:cNvPr id="33" name="TextBox 32"/>
          <p:cNvSpPr txBox="1"/>
          <p:nvPr/>
        </p:nvSpPr>
        <p:spPr>
          <a:xfrm>
            <a:off x="8476488" y="2240280"/>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Call audio recording</a:t>
            </a:r>
          </a:p>
        </p:txBody>
      </p:sp>
      <p:sp>
        <p:nvSpPr>
          <p:cNvPr id="34" name="TextBox 33"/>
          <p:cNvSpPr txBox="1"/>
          <p:nvPr/>
        </p:nvSpPr>
        <p:spPr>
          <a:xfrm>
            <a:off x="8476488" y="2624328"/>
            <a:ext cx="3200400" cy="347472"/>
          </a:xfrm>
          <a:prstGeom prst="rect">
            <a:avLst/>
          </a:prstGeom>
          <a:noFill/>
        </p:spPr>
        <p:txBody>
          <a:bodyPr wrap="square" anchor="t">
            <a:spAutoFit/>
          </a:bodyPr>
          <a:lstStyle/>
          <a:p>
            <a:pPr algn="l">
              <a:lnSpc>
                <a:spcPct val="115000"/>
              </a:lnSpc>
            </a:pPr>
            <a:r>
              <a:rPr sz="1150" b="0">
                <a:solidFill>
                  <a:srgbClr val="555F6D"/>
                </a:solidFill>
                <a:latin typeface="Calibri"/>
              </a:rPr>
              <a:t>   (transcripts only)</a:t>
            </a:r>
          </a:p>
        </p:txBody>
      </p:sp>
      <p:sp>
        <p:nvSpPr>
          <p:cNvPr id="35" name="TextBox 34"/>
          <p:cNvSpPr txBox="1"/>
          <p:nvPr/>
        </p:nvSpPr>
        <p:spPr>
          <a:xfrm>
            <a:off x="8476488" y="3008376"/>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Outbound calls from dashboard</a:t>
            </a:r>
          </a:p>
        </p:txBody>
      </p:sp>
      <p:sp>
        <p:nvSpPr>
          <p:cNvPr id="36" name="TextBox 35"/>
          <p:cNvSpPr txBox="1"/>
          <p:nvPr/>
        </p:nvSpPr>
        <p:spPr>
          <a:xfrm>
            <a:off x="8476488" y="3392424"/>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Self-serve plan upgrade endpoint</a:t>
            </a:r>
          </a:p>
        </p:txBody>
      </p:sp>
      <p:sp>
        <p:nvSpPr>
          <p:cNvPr id="37" name="TextBox 36"/>
          <p:cNvSpPr txBox="1"/>
          <p:nvPr/>
        </p:nvSpPr>
        <p:spPr>
          <a:xfrm>
            <a:off x="8476488" y="3776472"/>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Hindi / Telugu on the live stack</a:t>
            </a:r>
          </a:p>
        </p:txBody>
      </p:sp>
      <p:sp>
        <p:nvSpPr>
          <p:cNvPr id="38" name="TextBox 37"/>
          <p:cNvSpPr txBox="1"/>
          <p:nvPr/>
        </p:nvSpPr>
        <p:spPr>
          <a:xfrm>
            <a:off x="8476488" y="4160520"/>
            <a:ext cx="3200400" cy="347472"/>
          </a:xfrm>
          <a:prstGeom prst="rect">
            <a:avLst/>
          </a:prstGeom>
          <a:noFill/>
        </p:spPr>
        <p:txBody>
          <a:bodyPr wrap="square" anchor="t">
            <a:spAutoFit/>
          </a:bodyPr>
          <a:lstStyle/>
          <a:p>
            <a:pPr algn="l">
              <a:lnSpc>
                <a:spcPct val="115000"/>
              </a:lnSpc>
            </a:pPr>
            <a:r>
              <a:rPr sz="1150" b="0">
                <a:solidFill>
                  <a:srgbClr val="0F172A"/>
                </a:solidFill>
                <a:latin typeface="Calibri"/>
              </a:rPr>
              <a:t>Multi-worker scaling</a:t>
            </a:r>
          </a:p>
        </p:txBody>
      </p:sp>
      <p:sp>
        <p:nvSpPr>
          <p:cNvPr id="39" name="TextBox 38"/>
          <p:cNvSpPr txBox="1"/>
          <p:nvPr/>
        </p:nvSpPr>
        <p:spPr>
          <a:xfrm>
            <a:off x="8476488" y="4544568"/>
            <a:ext cx="3200400" cy="347472"/>
          </a:xfrm>
          <a:prstGeom prst="rect">
            <a:avLst/>
          </a:prstGeom>
          <a:noFill/>
        </p:spPr>
        <p:txBody>
          <a:bodyPr wrap="square" anchor="t">
            <a:spAutoFit/>
          </a:bodyPr>
          <a:lstStyle/>
          <a:p>
            <a:pPr algn="l">
              <a:lnSpc>
                <a:spcPct val="115000"/>
              </a:lnSpc>
            </a:pPr>
            <a:r>
              <a:rPr sz="1150" b="0">
                <a:solidFill>
                  <a:srgbClr val="555F6D"/>
                </a:solidFill>
                <a:latin typeface="Calibri"/>
              </a:rPr>
              <a:t>   (needs Redis)</a:t>
            </a:r>
          </a:p>
        </p:txBody>
      </p:sp>
      <p:sp>
        <p:nvSpPr>
          <p:cNvPr id="40" name="TextBox 39"/>
          <p:cNvSpPr txBox="1"/>
          <p:nvPr/>
        </p:nvSpPr>
        <p:spPr>
          <a:xfrm>
            <a:off x="502920" y="6126480"/>
            <a:ext cx="11155680" cy="365760"/>
          </a:xfrm>
          <a:prstGeom prst="rect">
            <a:avLst/>
          </a:prstGeom>
          <a:noFill/>
        </p:spPr>
        <p:txBody>
          <a:bodyPr wrap="square" anchor="t">
            <a:spAutoFit/>
          </a:bodyPr>
          <a:lstStyle/>
          <a:p>
            <a:pPr algn="l">
              <a:lnSpc>
                <a:spcPct val="115000"/>
              </a:lnSpc>
            </a:pPr>
            <a:r>
              <a:rPr sz="1250" b="0">
                <a:solidFill>
                  <a:srgbClr val="555F6D"/>
                </a:solidFill>
                <a:latin typeface="Calibri"/>
              </a:rPr>
              <a:t>A page in the UI does not imply a working backend — this list was checked against the code, not the screens.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640080"/>
            <a:ext cx="10515600" cy="731520"/>
          </a:xfrm>
          <a:prstGeom prst="rect">
            <a:avLst/>
          </a:prstGeom>
          <a:noFill/>
        </p:spPr>
        <p:txBody>
          <a:bodyPr wrap="square" anchor="t">
            <a:spAutoFit/>
          </a:bodyPr>
          <a:lstStyle/>
          <a:p>
            <a:pPr algn="l">
              <a:lnSpc>
                <a:spcPct val="115000"/>
              </a:lnSpc>
            </a:pPr>
            <a:r>
              <a:rPr sz="3400" b="1">
                <a:solidFill>
                  <a:srgbClr val="FFFFFF"/>
                </a:solidFill>
                <a:latin typeface="Calibri"/>
              </a:rPr>
              <a:t>In Summary</a:t>
            </a:r>
          </a:p>
        </p:txBody>
      </p:sp>
      <p:sp>
        <p:nvSpPr>
          <p:cNvPr id="4" name="Rounded Rectangle 3"/>
          <p:cNvSpPr/>
          <p:nvPr/>
        </p:nvSpPr>
        <p:spPr>
          <a:xfrm>
            <a:off x="731520" y="1691640"/>
            <a:ext cx="2286000" cy="658368"/>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Problem</a:t>
            </a:r>
          </a:p>
        </p:txBody>
      </p:sp>
      <p:sp>
        <p:nvSpPr>
          <p:cNvPr id="5" name="TextBox 4"/>
          <p:cNvSpPr txBox="1"/>
          <p:nvPr/>
        </p:nvSpPr>
        <p:spPr>
          <a:xfrm>
            <a:off x="3291840" y="1783080"/>
            <a:ext cx="8229600" cy="548640"/>
          </a:xfrm>
          <a:prstGeom prst="rect">
            <a:avLst/>
          </a:prstGeom>
          <a:noFill/>
        </p:spPr>
        <p:txBody>
          <a:bodyPr wrap="square" anchor="t">
            <a:spAutoFit/>
          </a:bodyPr>
          <a:lstStyle/>
          <a:p>
            <a:pPr algn="l">
              <a:lnSpc>
                <a:spcPct val="115000"/>
              </a:lnSpc>
            </a:pPr>
            <a:r>
              <a:rPr sz="1600" b="0">
                <a:solidFill>
                  <a:srgbClr val="FFFFFF"/>
                </a:solidFill>
                <a:latin typeface="Calibri"/>
              </a:rPr>
              <a:t>Clinics miss calls, and every missed call is a lost patient.</a:t>
            </a:r>
          </a:p>
        </p:txBody>
      </p:sp>
      <p:sp>
        <p:nvSpPr>
          <p:cNvPr id="6" name="Rounded Rectangle 5"/>
          <p:cNvSpPr/>
          <p:nvPr/>
        </p:nvSpPr>
        <p:spPr>
          <a:xfrm>
            <a:off x="731520" y="2606040"/>
            <a:ext cx="2286000" cy="658368"/>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Solution</a:t>
            </a:r>
          </a:p>
        </p:txBody>
      </p:sp>
      <p:sp>
        <p:nvSpPr>
          <p:cNvPr id="7" name="TextBox 6"/>
          <p:cNvSpPr txBox="1"/>
          <p:nvPr/>
        </p:nvSpPr>
        <p:spPr>
          <a:xfrm>
            <a:off x="3291840" y="2697480"/>
            <a:ext cx="8229600" cy="548640"/>
          </a:xfrm>
          <a:prstGeom prst="rect">
            <a:avLst/>
          </a:prstGeom>
          <a:noFill/>
        </p:spPr>
        <p:txBody>
          <a:bodyPr wrap="square" anchor="t">
            <a:spAutoFit/>
          </a:bodyPr>
          <a:lstStyle/>
          <a:p>
            <a:pPr algn="l">
              <a:lnSpc>
                <a:spcPct val="115000"/>
              </a:lnSpc>
            </a:pPr>
            <a:r>
              <a:rPr sz="1600" b="0">
                <a:solidFill>
                  <a:srgbClr val="FFFFFF"/>
                </a:solidFill>
                <a:latin typeface="Calibri"/>
              </a:rPr>
              <a:t>An AI receptionist on the number patients already dial.</a:t>
            </a:r>
          </a:p>
        </p:txBody>
      </p:sp>
      <p:sp>
        <p:nvSpPr>
          <p:cNvPr id="8" name="Rounded Rectangle 7"/>
          <p:cNvSpPr/>
          <p:nvPr/>
        </p:nvSpPr>
        <p:spPr>
          <a:xfrm>
            <a:off x="731520" y="3520440"/>
            <a:ext cx="2286000" cy="658368"/>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Workflow</a:t>
            </a:r>
          </a:p>
        </p:txBody>
      </p:sp>
      <p:sp>
        <p:nvSpPr>
          <p:cNvPr id="9" name="TextBox 8"/>
          <p:cNvSpPr txBox="1"/>
          <p:nvPr/>
        </p:nvSpPr>
        <p:spPr>
          <a:xfrm>
            <a:off x="3291840" y="3611880"/>
            <a:ext cx="8229600" cy="548640"/>
          </a:xfrm>
          <a:prstGeom prst="rect">
            <a:avLst/>
          </a:prstGeom>
          <a:noFill/>
        </p:spPr>
        <p:txBody>
          <a:bodyPr wrap="square" anchor="t">
            <a:spAutoFit/>
          </a:bodyPr>
          <a:lstStyle/>
          <a:p>
            <a:pPr algn="l">
              <a:lnSpc>
                <a:spcPct val="115000"/>
              </a:lnSpc>
            </a:pPr>
            <a:r>
              <a:rPr sz="1600" b="0">
                <a:solidFill>
                  <a:srgbClr val="FFFFFF"/>
                </a:solidFill>
                <a:latin typeface="Calibri"/>
              </a:rPr>
              <a:t>Answer → identify → book → confirm → record → show the clinic.</a:t>
            </a:r>
          </a:p>
        </p:txBody>
      </p:sp>
      <p:sp>
        <p:nvSpPr>
          <p:cNvPr id="10" name="Rounded Rectangle 9"/>
          <p:cNvSpPr/>
          <p:nvPr/>
        </p:nvSpPr>
        <p:spPr>
          <a:xfrm>
            <a:off x="731520" y="4434840"/>
            <a:ext cx="2286000" cy="658368"/>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Technology</a:t>
            </a:r>
          </a:p>
        </p:txBody>
      </p:sp>
      <p:sp>
        <p:nvSpPr>
          <p:cNvPr id="11" name="TextBox 10"/>
          <p:cNvSpPr txBox="1"/>
          <p:nvPr/>
        </p:nvSpPr>
        <p:spPr>
          <a:xfrm>
            <a:off x="3291840" y="4526279"/>
            <a:ext cx="8229600" cy="548640"/>
          </a:xfrm>
          <a:prstGeom prst="rect">
            <a:avLst/>
          </a:prstGeom>
          <a:noFill/>
        </p:spPr>
        <p:txBody>
          <a:bodyPr wrap="square" anchor="t">
            <a:spAutoFit/>
          </a:bodyPr>
          <a:lstStyle/>
          <a:p>
            <a:pPr algn="l">
              <a:lnSpc>
                <a:spcPct val="115000"/>
              </a:lnSpc>
            </a:pPr>
            <a:r>
              <a:rPr sz="1600" b="0">
                <a:solidFill>
                  <a:srgbClr val="FFFFFF"/>
                </a:solidFill>
                <a:latin typeface="Calibri"/>
              </a:rPr>
              <a:t>React · FastAPI · SQL Server · Twilio · Deepgram · Groq · Sarvam.</a:t>
            </a:r>
          </a:p>
        </p:txBody>
      </p:sp>
      <p:sp>
        <p:nvSpPr>
          <p:cNvPr id="12" name="Rounded Rectangle 11"/>
          <p:cNvSpPr/>
          <p:nvPr/>
        </p:nvSpPr>
        <p:spPr>
          <a:xfrm>
            <a:off x="731520" y="5349240"/>
            <a:ext cx="2286000" cy="658368"/>
          </a:xfrm>
          <a:prstGeom prst="round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wrap="square" lIns="45720" tIns="27432" rIns="45720" bIns="27432" rtlCol="0" anchor="ctr"/>
          <a:lstStyle/>
          <a:p>
            <a:pPr algn="ctr"/>
            <a:r>
              <a:rPr sz="1500" b="1">
                <a:solidFill>
                  <a:srgbClr val="FFFFFF"/>
                </a:solidFill>
                <a:latin typeface="Calibri"/>
              </a:rPr>
              <a:t>Business value</a:t>
            </a:r>
          </a:p>
        </p:txBody>
      </p:sp>
      <p:sp>
        <p:nvSpPr>
          <p:cNvPr id="13" name="TextBox 12"/>
          <p:cNvSpPr txBox="1"/>
          <p:nvPr/>
        </p:nvSpPr>
        <p:spPr>
          <a:xfrm>
            <a:off x="3291840" y="5440679"/>
            <a:ext cx="8229600" cy="548640"/>
          </a:xfrm>
          <a:prstGeom prst="rect">
            <a:avLst/>
          </a:prstGeom>
          <a:noFill/>
        </p:spPr>
        <p:txBody>
          <a:bodyPr wrap="square" anchor="t">
            <a:spAutoFit/>
          </a:bodyPr>
          <a:lstStyle/>
          <a:p>
            <a:pPr algn="l">
              <a:lnSpc>
                <a:spcPct val="115000"/>
              </a:lnSpc>
            </a:pPr>
            <a:r>
              <a:rPr sz="1600" b="0">
                <a:solidFill>
                  <a:srgbClr val="FFFFFF"/>
                </a:solidFill>
                <a:latin typeface="Calibri"/>
              </a:rPr>
              <a:t>The phone is always answered, and every call leaves a record.</a:t>
            </a:r>
          </a:p>
        </p:txBody>
      </p:sp>
      <p:sp>
        <p:nvSpPr>
          <p:cNvPr id="14" name="Rectangle 13"/>
          <p:cNvSpPr/>
          <p:nvPr/>
        </p:nvSpPr>
        <p:spPr>
          <a:xfrm>
            <a:off x="731520" y="6355080"/>
            <a:ext cx="2194560" cy="54864"/>
          </a:xfrm>
          <a:prstGeom prst="rect">
            <a:avLst/>
          </a:prstGeom>
          <a:solidFill>
            <a:srgbClr val="0E7C8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31520" y="6446520"/>
            <a:ext cx="7315200" cy="308867"/>
          </a:xfrm>
          <a:prstGeom prst="rect">
            <a:avLst/>
          </a:prstGeom>
          <a:noFill/>
        </p:spPr>
        <p:txBody>
          <a:bodyPr wrap="square" anchor="t">
            <a:spAutoFit/>
          </a:bodyPr>
          <a:lstStyle/>
          <a:p>
            <a:pPr algn="l">
              <a:lnSpc>
                <a:spcPct val="115000"/>
              </a:lnSpc>
            </a:pPr>
            <a:r>
              <a:rPr lang="en-IN" sz="1300" b="1" dirty="0" err="1">
                <a:solidFill>
                  <a:srgbClr val="E8F1F2"/>
                </a:solidFill>
                <a:latin typeface="Calibri"/>
              </a:rPr>
              <a:t>MediCOR</a:t>
            </a:r>
            <a:r>
              <a:rPr lang="en-IN" sz="1300" b="1" dirty="0">
                <a:solidFill>
                  <a:srgbClr val="E8F1F2"/>
                </a:solidFill>
                <a:latin typeface="Calibri"/>
              </a:rPr>
              <a:t> AI</a:t>
            </a:r>
            <a:endParaRPr sz="1300" b="1" dirty="0">
              <a:solidFill>
                <a:srgbClr val="E8F1F2"/>
              </a:solidFill>
              <a:latin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3144</Words>
  <Application>Microsoft Office PowerPoint</Application>
  <PresentationFormat>Widescreen</PresentationFormat>
  <Paragraphs>368</Paragraphs>
  <Slides>20</Slides>
  <Notes>20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20</vt:i4>
      </vt:variant>
    </vt:vector>
  </HeadingPairs>
  <TitlesOfParts>
    <vt:vector size="24" baseType="lpstr">
      <vt:lpstr>Arial</vt:lpstr>
      <vt:lpstr>Calibri</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kondaparthy vishal</cp:lastModifiedBy>
  <cp:revision>2</cp:revision>
  <dcterms:created xsi:type="dcterms:W3CDTF">2013-01-27T09:14:16Z</dcterms:created>
  <dcterms:modified xsi:type="dcterms:W3CDTF">2026-09-21T11:00:37Z</dcterms:modified>
  <cp:category/>
</cp:coreProperties>
</file>